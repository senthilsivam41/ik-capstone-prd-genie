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5" roundtripDataSignature="AMtx7mjO5eTrrc/17i0SIfCMo09NY4PLQ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6BA6652-2D1E-4470-B958-90F078D1394A}">
  <a:tblStyle styleId="{76BA6652-2D1E-4470-B958-90F078D1394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customschemas.google.com/relationships/presentationmetadata" Target="metadata"/><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 name="Google Shape;2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 name="Google Shape;2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 name="Google Shape;5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 name="Google Shape;5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 name="Google Shape;7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5" name="Shape 15"/>
        <p:cNvGrpSpPr/>
        <p:nvPr/>
      </p:nvGrpSpPr>
      <p:grpSpPr>
        <a:xfrm>
          <a:off x="0" y="0"/>
          <a:ext cx="0" cy="0"/>
          <a:chOff x="0" y="0"/>
          <a:chExt cx="0" cy="0"/>
        </a:xfrm>
      </p:grpSpPr>
      <p:sp>
        <p:nvSpPr>
          <p:cNvPr id="16" name="Google Shape;16;p1"/>
          <p:cNvSpPr/>
          <p:nvPr/>
        </p:nvSpPr>
        <p:spPr>
          <a:xfrm>
            <a:off x="9692640" y="-1463040"/>
            <a:ext cx="4754880" cy="4754880"/>
          </a:xfrm>
          <a:prstGeom prst="ellipse">
            <a:avLst/>
          </a:prstGeom>
          <a:solidFill>
            <a:srgbClr val="2634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1280160" y="4572000"/>
            <a:ext cx="3291840" cy="3291840"/>
          </a:xfrm>
          <a:prstGeom prst="ellipse">
            <a:avLst/>
          </a:prstGeom>
          <a:solidFill>
            <a:srgbClr val="2634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txBox="1"/>
          <p:nvPr/>
        </p:nvSpPr>
        <p:spPr>
          <a:xfrm>
            <a:off x="731520" y="146304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300"/>
              <a:buFont typeface="Calibri"/>
              <a:buNone/>
            </a:pPr>
            <a:r>
              <a:rPr b="1" i="0" lang="en-US" sz="1300" u="none" cap="none" strike="noStrike">
                <a:solidFill>
                  <a:srgbClr val="CADCFC"/>
                </a:solidFill>
                <a:latin typeface="Calibri"/>
                <a:ea typeface="Calibri"/>
                <a:cs typeface="Calibri"/>
                <a:sym typeface="Calibri"/>
              </a:rPr>
              <a:t>APPLIED AGENTIC AI FOR PMs / TPMs · CAPSTONE</a:t>
            </a:r>
            <a:endParaRPr b="0" i="0" sz="1300" u="none" cap="none" strike="noStrike">
              <a:solidFill>
                <a:schemeClr val="dk1"/>
              </a:solidFill>
              <a:latin typeface="Calibri"/>
              <a:ea typeface="Calibri"/>
              <a:cs typeface="Calibri"/>
              <a:sym typeface="Calibri"/>
            </a:endParaRPr>
          </a:p>
        </p:txBody>
      </p:sp>
      <p:sp>
        <p:nvSpPr>
          <p:cNvPr id="19" name="Google Shape;19;p1"/>
          <p:cNvSpPr txBox="1"/>
          <p:nvPr/>
        </p:nvSpPr>
        <p:spPr>
          <a:xfrm>
            <a:off x="731520" y="1920240"/>
            <a:ext cx="914400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400"/>
              <a:buFont typeface="Cambria"/>
              <a:buNone/>
            </a:pPr>
            <a:r>
              <a:rPr b="1" i="0" lang="en-US" sz="5400" u="none" cap="none" strike="noStrike">
                <a:solidFill>
                  <a:srgbClr val="FFFFFF"/>
                </a:solidFill>
                <a:latin typeface="Cambria"/>
                <a:ea typeface="Cambria"/>
                <a:cs typeface="Cambria"/>
                <a:sym typeface="Cambria"/>
              </a:rPr>
              <a:t>PRD Genie</a:t>
            </a:r>
            <a:endParaRPr b="0" i="0" sz="5400" u="none" cap="none" strike="noStrike">
              <a:solidFill>
                <a:schemeClr val="dk1"/>
              </a:solidFill>
              <a:latin typeface="Calibri"/>
              <a:ea typeface="Calibri"/>
              <a:cs typeface="Calibri"/>
              <a:sym typeface="Calibri"/>
            </a:endParaRPr>
          </a:p>
        </p:txBody>
      </p:sp>
      <p:sp>
        <p:nvSpPr>
          <p:cNvPr id="20" name="Google Shape;20;p1"/>
          <p:cNvSpPr txBox="1"/>
          <p:nvPr/>
        </p:nvSpPr>
        <p:spPr>
          <a:xfrm>
            <a:off x="731520" y="3063240"/>
            <a:ext cx="9144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2000"/>
              <a:buFont typeface="Calibri"/>
              <a:buNone/>
            </a:pPr>
            <a:r>
              <a:rPr b="0" i="0" lang="en-US" sz="2000" u="none" cap="none" strike="noStrike">
                <a:solidFill>
                  <a:srgbClr val="CADCFC"/>
                </a:solidFill>
                <a:latin typeface="Calibri"/>
                <a:ea typeface="Calibri"/>
                <a:cs typeface="Calibri"/>
                <a:sym typeface="Calibri"/>
              </a:rPr>
              <a:t>AI-Powered Product Documentation Assistant</a:t>
            </a:r>
            <a:endParaRPr b="0" i="0" sz="2000" u="none" cap="none" strike="noStrike">
              <a:solidFill>
                <a:schemeClr val="dk1"/>
              </a:solidFill>
              <a:latin typeface="Calibri"/>
              <a:ea typeface="Calibri"/>
              <a:cs typeface="Calibri"/>
              <a:sym typeface="Calibri"/>
            </a:endParaRPr>
          </a:p>
        </p:txBody>
      </p:sp>
      <p:sp>
        <p:nvSpPr>
          <p:cNvPr id="21" name="Google Shape;21;p1"/>
          <p:cNvSpPr/>
          <p:nvPr/>
        </p:nvSpPr>
        <p:spPr>
          <a:xfrm>
            <a:off x="731520" y="3886200"/>
            <a:ext cx="502920" cy="36576"/>
          </a:xfrm>
          <a:prstGeom prst="rect">
            <a:avLst/>
          </a:prstGeom>
          <a:solidFill>
            <a:srgbClr val="E457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
          <p:cNvSpPr txBox="1"/>
          <p:nvPr/>
        </p:nvSpPr>
        <p:spPr>
          <a:xfrm>
            <a:off x="731520" y="406908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NeuronForge Technologies  ·  Product &amp; Innovation Team</a:t>
            </a:r>
            <a:endParaRPr b="0" i="0" sz="1400" u="none" cap="none" strike="noStrike">
              <a:solidFill>
                <a:schemeClr val="dk1"/>
              </a:solidFill>
              <a:latin typeface="Calibri"/>
              <a:ea typeface="Calibri"/>
              <a:cs typeface="Calibri"/>
              <a:sym typeface="Calibri"/>
            </a:endParaRPr>
          </a:p>
        </p:txBody>
      </p:sp>
      <p:sp>
        <p:nvSpPr>
          <p:cNvPr id="23" name="Google Shape;23;p1"/>
          <p:cNvSpPr txBox="1"/>
          <p:nvPr/>
        </p:nvSpPr>
        <p:spPr>
          <a:xfrm>
            <a:off x="731520" y="612648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Sendil  ·  Principal Solutions Architect</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E"/>
        </a:solidFill>
      </p:bgPr>
    </p:bg>
    <p:spTree>
      <p:nvGrpSpPr>
        <p:cNvPr id="28" name="Shape 28"/>
        <p:cNvGrpSpPr/>
        <p:nvPr/>
      </p:nvGrpSpPr>
      <p:grpSpPr>
        <a:xfrm>
          <a:off x="0" y="0"/>
          <a:ext cx="0" cy="0"/>
          <a:chOff x="0" y="0"/>
          <a:chExt cx="0" cy="0"/>
        </a:xfrm>
      </p:grpSpPr>
      <p:sp>
        <p:nvSpPr>
          <p:cNvPr id="29" name="Google Shape;29;p2"/>
          <p:cNvSpPr/>
          <p:nvPr/>
        </p:nvSpPr>
        <p:spPr>
          <a:xfrm>
            <a:off x="548640" y="457200"/>
            <a:ext cx="384048" cy="384048"/>
          </a:xfrm>
          <a:prstGeom prst="ellipse">
            <a:avLst/>
          </a:prstGeom>
          <a:solidFill>
            <a:srgbClr val="E457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txBox="1"/>
          <p:nvPr/>
        </p:nvSpPr>
        <p:spPr>
          <a:xfrm>
            <a:off x="548640" y="45720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1</a:t>
            </a:r>
            <a:endParaRPr b="0" i="0" sz="1600" u="none" cap="none" strike="noStrike">
              <a:solidFill>
                <a:schemeClr val="dk1"/>
              </a:solidFill>
              <a:latin typeface="Calibri"/>
              <a:ea typeface="Calibri"/>
              <a:cs typeface="Calibri"/>
              <a:sym typeface="Calibri"/>
            </a:endParaRPr>
          </a:p>
        </p:txBody>
      </p:sp>
      <p:sp>
        <p:nvSpPr>
          <p:cNvPr id="31" name="Google Shape;31;p2"/>
          <p:cNvSpPr txBox="1"/>
          <p:nvPr/>
        </p:nvSpPr>
        <p:spPr>
          <a:xfrm>
            <a:off x="1042416" y="457200"/>
            <a:ext cx="54864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7"/>
              </a:buClr>
              <a:buSzPts val="1200"/>
              <a:buFont typeface="Calibri"/>
              <a:buNone/>
            </a:pPr>
            <a:r>
              <a:rPr b="1" i="0" lang="en-US" sz="1200" u="none" cap="none" strike="noStrike">
                <a:solidFill>
                  <a:srgbClr val="5A6B87"/>
                </a:solidFill>
                <a:latin typeface="Calibri"/>
                <a:ea typeface="Calibri"/>
                <a:cs typeface="Calibri"/>
                <a:sym typeface="Calibri"/>
              </a:rPr>
              <a:t>IDEATION</a:t>
            </a:r>
            <a:endParaRPr b="0" i="0" sz="1200" u="none" cap="none" strike="noStrike">
              <a:solidFill>
                <a:schemeClr val="dk1"/>
              </a:solidFill>
              <a:latin typeface="Calibri"/>
              <a:ea typeface="Calibri"/>
              <a:cs typeface="Calibri"/>
              <a:sym typeface="Calibri"/>
            </a:endParaRPr>
          </a:p>
        </p:txBody>
      </p:sp>
      <p:sp>
        <p:nvSpPr>
          <p:cNvPr id="32" name="Google Shape;32;p2"/>
          <p:cNvSpPr txBox="1"/>
          <p:nvPr/>
        </p:nvSpPr>
        <p:spPr>
          <a:xfrm>
            <a:off x="548640" y="914400"/>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800"/>
              <a:buFont typeface="Cambria"/>
              <a:buNone/>
            </a:pPr>
            <a:r>
              <a:rPr b="1" i="0" lang="en-US" sz="2800" u="none" cap="none" strike="noStrike">
                <a:solidFill>
                  <a:srgbClr val="1E2761"/>
                </a:solidFill>
                <a:latin typeface="Cambria"/>
                <a:ea typeface="Cambria"/>
                <a:cs typeface="Cambria"/>
                <a:sym typeface="Cambria"/>
              </a:rPr>
              <a:t>The Problem at NeuronForge</a:t>
            </a:r>
            <a:endParaRPr b="0" i="0" sz="2800" u="none" cap="none" strike="noStrike">
              <a:solidFill>
                <a:schemeClr val="dk1"/>
              </a:solidFill>
              <a:latin typeface="Calibri"/>
              <a:ea typeface="Calibri"/>
              <a:cs typeface="Calibri"/>
              <a:sym typeface="Calibri"/>
            </a:endParaRPr>
          </a:p>
        </p:txBody>
      </p:sp>
      <p:sp>
        <p:nvSpPr>
          <p:cNvPr id="33" name="Google Shape;33;p2"/>
          <p:cNvSpPr txBox="1"/>
          <p:nvPr/>
        </p:nvSpPr>
        <p:spPr>
          <a:xfrm>
            <a:off x="548640" y="1508760"/>
            <a:ext cx="6400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7"/>
              </a:buClr>
              <a:buSzPts val="1300"/>
              <a:buFont typeface="Calibri"/>
              <a:buNone/>
            </a:pPr>
            <a:r>
              <a:rPr b="0" i="1" lang="en-US" sz="1300" u="none" cap="none" strike="noStrike">
                <a:solidFill>
                  <a:srgbClr val="5A6B87"/>
                </a:solidFill>
                <a:latin typeface="Calibri"/>
                <a:ea typeface="Calibri"/>
                <a:cs typeface="Calibri"/>
                <a:sym typeface="Calibri"/>
              </a:rPr>
              <a:t>PMs/TPMs lose hours turning meeting discussion into structured PRDs — and requirements silently fall through the cracks.</a:t>
            </a:r>
            <a:endParaRPr b="0" i="0" sz="1300" u="none" cap="none" strike="noStrike">
              <a:solidFill>
                <a:schemeClr val="dk1"/>
              </a:solidFill>
              <a:latin typeface="Calibri"/>
              <a:ea typeface="Calibri"/>
              <a:cs typeface="Calibri"/>
              <a:sym typeface="Calibri"/>
            </a:endParaRPr>
          </a:p>
        </p:txBody>
      </p:sp>
      <p:sp>
        <p:nvSpPr>
          <p:cNvPr id="34" name="Google Shape;34;p2"/>
          <p:cNvSpPr/>
          <p:nvPr/>
        </p:nvSpPr>
        <p:spPr>
          <a:xfrm>
            <a:off x="548640" y="2240280"/>
            <a:ext cx="329184" cy="329184"/>
          </a:xfrm>
          <a:prstGeom prst="ellipse">
            <a:avLst/>
          </a:prstGeom>
          <a:solidFill>
            <a:srgbClr val="CADCFC"/>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txBox="1"/>
          <p:nvPr/>
        </p:nvSpPr>
        <p:spPr>
          <a:xfrm>
            <a:off x="548640" y="2240280"/>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36" name="Google Shape;36;p2"/>
          <p:cNvSpPr txBox="1"/>
          <p:nvPr/>
        </p:nvSpPr>
        <p:spPr>
          <a:xfrm>
            <a:off x="1024128" y="2194560"/>
            <a:ext cx="5852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0" i="0" lang="en-US" sz="1300" u="none" cap="none" strike="noStrike">
                <a:solidFill>
                  <a:srgbClr val="1E2761"/>
                </a:solidFill>
                <a:latin typeface="Calibri"/>
                <a:ea typeface="Calibri"/>
                <a:cs typeface="Calibri"/>
                <a:sym typeface="Calibri"/>
              </a:rPr>
              <a:t>Requirements scattered across unstructured meeting discussion</a:t>
            </a:r>
            <a:endParaRPr b="0" i="0" sz="1300" u="none" cap="none" strike="noStrike">
              <a:solidFill>
                <a:schemeClr val="dk1"/>
              </a:solidFill>
              <a:latin typeface="Calibri"/>
              <a:ea typeface="Calibri"/>
              <a:cs typeface="Calibri"/>
              <a:sym typeface="Calibri"/>
            </a:endParaRPr>
          </a:p>
        </p:txBody>
      </p:sp>
      <p:sp>
        <p:nvSpPr>
          <p:cNvPr id="37" name="Google Shape;37;p2"/>
          <p:cNvSpPr/>
          <p:nvPr/>
        </p:nvSpPr>
        <p:spPr>
          <a:xfrm>
            <a:off x="548640" y="2898648"/>
            <a:ext cx="329184" cy="329184"/>
          </a:xfrm>
          <a:prstGeom prst="ellipse">
            <a:avLst/>
          </a:prstGeom>
          <a:solidFill>
            <a:srgbClr val="CADCFC"/>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txBox="1"/>
          <p:nvPr/>
        </p:nvSpPr>
        <p:spPr>
          <a:xfrm>
            <a:off x="548640" y="2898648"/>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39" name="Google Shape;39;p2"/>
          <p:cNvSpPr txBox="1"/>
          <p:nvPr/>
        </p:nvSpPr>
        <p:spPr>
          <a:xfrm>
            <a:off x="1024128" y="2852928"/>
            <a:ext cx="5852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0" i="0" lang="en-US" sz="1300" u="none" cap="none" strike="noStrike">
                <a:solidFill>
                  <a:srgbClr val="1E2761"/>
                </a:solidFill>
                <a:latin typeface="Calibri"/>
                <a:ea typeface="Calibri"/>
                <a:cs typeface="Calibri"/>
                <a:sym typeface="Calibri"/>
              </a:rPr>
              <a:t>Inconsistent PRD formats across PMs slow engineering estimation</a:t>
            </a:r>
            <a:endParaRPr b="0" i="0" sz="1300" u="none" cap="none" strike="noStrike">
              <a:solidFill>
                <a:schemeClr val="dk1"/>
              </a:solidFill>
              <a:latin typeface="Calibri"/>
              <a:ea typeface="Calibri"/>
              <a:cs typeface="Calibri"/>
              <a:sym typeface="Calibri"/>
            </a:endParaRPr>
          </a:p>
        </p:txBody>
      </p:sp>
      <p:sp>
        <p:nvSpPr>
          <p:cNvPr id="40" name="Google Shape;40;p2"/>
          <p:cNvSpPr/>
          <p:nvPr/>
        </p:nvSpPr>
        <p:spPr>
          <a:xfrm>
            <a:off x="548640" y="3557016"/>
            <a:ext cx="329184" cy="329184"/>
          </a:xfrm>
          <a:prstGeom prst="ellipse">
            <a:avLst/>
          </a:prstGeom>
          <a:solidFill>
            <a:srgbClr val="CADCFC"/>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txBox="1"/>
          <p:nvPr/>
        </p:nvSpPr>
        <p:spPr>
          <a:xfrm>
            <a:off x="548640" y="355701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42" name="Google Shape;42;p2"/>
          <p:cNvSpPr txBox="1"/>
          <p:nvPr/>
        </p:nvSpPr>
        <p:spPr>
          <a:xfrm>
            <a:off x="1024128" y="3511296"/>
            <a:ext cx="5852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0" i="0" lang="en-US" sz="1300" u="none" cap="none" strike="noStrike">
                <a:solidFill>
                  <a:srgbClr val="1E2761"/>
                </a:solidFill>
                <a:latin typeface="Calibri"/>
                <a:ea typeface="Calibri"/>
                <a:cs typeface="Calibri"/>
                <a:sym typeface="Calibri"/>
              </a:rPr>
              <a:t>Manual, iterative breakdown of PRDs into epics and user stories</a:t>
            </a:r>
            <a:endParaRPr b="0" i="0" sz="1300" u="none" cap="none" strike="noStrike">
              <a:solidFill>
                <a:schemeClr val="dk1"/>
              </a:solidFill>
              <a:latin typeface="Calibri"/>
              <a:ea typeface="Calibri"/>
              <a:cs typeface="Calibri"/>
              <a:sym typeface="Calibri"/>
            </a:endParaRPr>
          </a:p>
        </p:txBody>
      </p:sp>
      <p:sp>
        <p:nvSpPr>
          <p:cNvPr id="43" name="Google Shape;43;p2"/>
          <p:cNvSpPr/>
          <p:nvPr/>
        </p:nvSpPr>
        <p:spPr>
          <a:xfrm>
            <a:off x="548640" y="4215384"/>
            <a:ext cx="329184" cy="329184"/>
          </a:xfrm>
          <a:prstGeom prst="ellipse">
            <a:avLst/>
          </a:prstGeom>
          <a:solidFill>
            <a:srgbClr val="CADCFC"/>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txBox="1"/>
          <p:nvPr/>
        </p:nvSpPr>
        <p:spPr>
          <a:xfrm>
            <a:off x="548640" y="4215384"/>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45" name="Google Shape;45;p2"/>
          <p:cNvSpPr txBox="1"/>
          <p:nvPr/>
        </p:nvSpPr>
        <p:spPr>
          <a:xfrm>
            <a:off x="1024128" y="4169664"/>
            <a:ext cx="5852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0" i="0" lang="en-US" sz="1300" u="none" cap="none" strike="noStrike">
                <a:solidFill>
                  <a:srgbClr val="1E2761"/>
                </a:solidFill>
                <a:latin typeface="Calibri"/>
                <a:ea typeface="Calibri"/>
                <a:cs typeface="Calibri"/>
                <a:sym typeface="Calibri"/>
              </a:rPr>
              <a:t>Valuable requirements lost in stakeholder notes nobody revisits</a:t>
            </a:r>
            <a:endParaRPr b="0" i="0" sz="1300" u="none" cap="none" strike="noStrike">
              <a:solidFill>
                <a:schemeClr val="dk1"/>
              </a:solidFill>
              <a:latin typeface="Calibri"/>
              <a:ea typeface="Calibri"/>
              <a:cs typeface="Calibri"/>
              <a:sym typeface="Calibri"/>
            </a:endParaRPr>
          </a:p>
        </p:txBody>
      </p:sp>
      <p:sp>
        <p:nvSpPr>
          <p:cNvPr id="46" name="Google Shape;46;p2"/>
          <p:cNvSpPr/>
          <p:nvPr/>
        </p:nvSpPr>
        <p:spPr>
          <a:xfrm>
            <a:off x="7315200" y="1508760"/>
            <a:ext cx="4343400" cy="4480560"/>
          </a:xfrm>
          <a:prstGeom prst="roundRect">
            <a:avLst>
              <a:gd fmla="val 2526" name="adj"/>
            </a:avLst>
          </a:prstGeom>
          <a:solidFill>
            <a:srgbClr val="FFFFFF"/>
          </a:solidFill>
          <a:ln cap="flat" cmpd="sng" w="19050">
            <a:solidFill>
              <a:srgbClr val="E4572E"/>
            </a:solidFill>
            <a:prstDash val="solid"/>
            <a:round/>
            <a:headEnd len="sm" w="sm" type="none"/>
            <a:tailEnd len="sm" w="sm" type="none"/>
          </a:ln>
          <a:effectLst>
            <a:outerShdw blurRad="101600" rotWithShape="0" algn="bl" dir="5400000" dist="38100">
              <a:srgbClr val="44546A">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txBox="1"/>
          <p:nvPr/>
        </p:nvSpPr>
        <p:spPr>
          <a:xfrm>
            <a:off x="7589520" y="1737360"/>
            <a:ext cx="3840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4572E"/>
              </a:buClr>
              <a:buSzPts val="1200"/>
              <a:buFont typeface="Calibri"/>
              <a:buNone/>
            </a:pPr>
            <a:r>
              <a:rPr b="1" i="0" lang="en-US" sz="1200" u="none" cap="none" strike="noStrike">
                <a:solidFill>
                  <a:srgbClr val="E4572E"/>
                </a:solidFill>
                <a:latin typeface="Calibri"/>
                <a:ea typeface="Calibri"/>
                <a:cs typeface="Calibri"/>
                <a:sym typeface="Calibri"/>
              </a:rPr>
              <a:t>HIGHEST IMPACT</a:t>
            </a:r>
            <a:endParaRPr b="0" i="0" sz="1200" u="none" cap="none" strike="noStrike">
              <a:solidFill>
                <a:schemeClr val="dk1"/>
              </a:solidFill>
              <a:latin typeface="Calibri"/>
              <a:ea typeface="Calibri"/>
              <a:cs typeface="Calibri"/>
              <a:sym typeface="Calibri"/>
            </a:endParaRPr>
          </a:p>
        </p:txBody>
      </p:sp>
      <p:sp>
        <p:nvSpPr>
          <p:cNvPr id="48" name="Google Shape;48;p2"/>
          <p:cNvSpPr txBox="1"/>
          <p:nvPr/>
        </p:nvSpPr>
        <p:spPr>
          <a:xfrm>
            <a:off x="7589520" y="2057400"/>
            <a:ext cx="38404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Cambria"/>
                <a:ea typeface="Cambria"/>
                <a:cs typeface="Cambria"/>
                <a:sym typeface="Cambria"/>
              </a:rPr>
              <a:t>Requirement Extraction</a:t>
            </a:r>
            <a:endParaRPr b="0" i="0" sz="2200" u="none" cap="none" strike="noStrike">
              <a:solidFill>
                <a:schemeClr val="dk1"/>
              </a:solidFill>
              <a:latin typeface="Calibri"/>
              <a:ea typeface="Calibri"/>
              <a:cs typeface="Calibri"/>
              <a:sym typeface="Calibri"/>
            </a:endParaRPr>
          </a:p>
        </p:txBody>
      </p:sp>
      <p:sp>
        <p:nvSpPr>
          <p:cNvPr id="49" name="Google Shape;49;p2"/>
          <p:cNvSpPr txBox="1"/>
          <p:nvPr/>
        </p:nvSpPr>
        <p:spPr>
          <a:xfrm>
            <a:off x="7589520" y="2697480"/>
            <a:ext cx="3840480" cy="310896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E2761"/>
              </a:buClr>
              <a:buSzPts val="1300"/>
              <a:buFont typeface="Calibri"/>
              <a:buChar char="•"/>
            </a:pPr>
            <a:r>
              <a:rPr b="0" i="0" lang="en-US" sz="1300" u="none" cap="none" strike="noStrike">
                <a:solidFill>
                  <a:srgbClr val="1E2761"/>
                </a:solidFill>
                <a:latin typeface="Calibri"/>
                <a:ea typeface="Calibri"/>
                <a:cs typeface="Calibri"/>
                <a:sym typeface="Calibri"/>
              </a:rPr>
              <a:t>Root cause — pain points 2-4 are largely downstream of extraction quality</a:t>
            </a:r>
            <a:endParaRPr b="0" i="0" sz="13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1E2761"/>
              </a:buClr>
              <a:buSzPts val="1300"/>
              <a:buFont typeface="Calibri"/>
              <a:buChar char="•"/>
            </a:pPr>
            <a:r>
              <a:rPr b="0" i="0" lang="en-US" sz="1300" u="none" cap="none" strike="noStrike">
                <a:solidFill>
                  <a:srgbClr val="1E2761"/>
                </a:solidFill>
                <a:latin typeface="Calibri"/>
                <a:ea typeface="Calibri"/>
                <a:cs typeface="Calibri"/>
                <a:sym typeface="Calibri"/>
              </a:rPr>
              <a:t>Carries the project's signature risk: inventing requirements never stated</a:t>
            </a:r>
            <a:endParaRPr b="0" i="0" sz="13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1E2761"/>
              </a:buClr>
              <a:buSzPts val="1300"/>
              <a:buFont typeface="Calibri"/>
              <a:buChar char="•"/>
            </a:pPr>
            <a:r>
              <a:rPr b="0" i="0" lang="en-US" sz="1300" u="none" cap="none" strike="noStrike">
                <a:solidFill>
                  <a:srgbClr val="1E2761"/>
                </a:solidFill>
                <a:latin typeface="Calibri"/>
                <a:ea typeface="Calibri"/>
                <a:cs typeface="Calibri"/>
                <a:sym typeface="Calibri"/>
              </a:rPr>
              <a:t>6 of 12 baseline tests grade this exact judgment call</a:t>
            </a:r>
            <a:endParaRPr b="0" i="0" sz="13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1E2761"/>
              </a:buClr>
              <a:buSzPts val="1300"/>
              <a:buFont typeface="Calibri"/>
              <a:buChar char="•"/>
            </a:pPr>
            <a:r>
              <a:rPr b="0" i="0" lang="en-US" sz="1300" u="none" cap="none" strike="noStrike">
                <a:solidFill>
                  <a:srgbClr val="1E2761"/>
                </a:solidFill>
                <a:latin typeface="Calibri"/>
                <a:ea typeface="Calibri"/>
                <a:cs typeface="Calibri"/>
                <a:sym typeface="Calibri"/>
              </a:rPr>
              <a:t>Errors compound downstream into the PRD, then into every user story</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E"/>
        </a:solidFill>
      </p:bgPr>
    </p:bg>
    <p:spTree>
      <p:nvGrpSpPr>
        <p:cNvPr id="54" name="Shape 54"/>
        <p:cNvGrpSpPr/>
        <p:nvPr/>
      </p:nvGrpSpPr>
      <p:grpSpPr>
        <a:xfrm>
          <a:off x="0" y="0"/>
          <a:ext cx="0" cy="0"/>
          <a:chOff x="0" y="0"/>
          <a:chExt cx="0" cy="0"/>
        </a:xfrm>
      </p:grpSpPr>
      <p:sp>
        <p:nvSpPr>
          <p:cNvPr id="55" name="Google Shape;55;p3"/>
          <p:cNvSpPr/>
          <p:nvPr/>
        </p:nvSpPr>
        <p:spPr>
          <a:xfrm>
            <a:off x="548640" y="457200"/>
            <a:ext cx="384048" cy="384048"/>
          </a:xfrm>
          <a:prstGeom prst="ellipse">
            <a:avLst/>
          </a:prstGeom>
          <a:solidFill>
            <a:srgbClr val="E457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txBox="1"/>
          <p:nvPr/>
        </p:nvSpPr>
        <p:spPr>
          <a:xfrm>
            <a:off x="548640" y="45720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a:t>
            </a:r>
            <a:endParaRPr b="0" i="0" sz="1600" u="none" cap="none" strike="noStrike">
              <a:solidFill>
                <a:schemeClr val="dk1"/>
              </a:solidFill>
              <a:latin typeface="Calibri"/>
              <a:ea typeface="Calibri"/>
              <a:cs typeface="Calibri"/>
              <a:sym typeface="Calibri"/>
            </a:endParaRPr>
          </a:p>
        </p:txBody>
      </p:sp>
      <p:sp>
        <p:nvSpPr>
          <p:cNvPr id="57" name="Google Shape;57;p3"/>
          <p:cNvSpPr txBox="1"/>
          <p:nvPr/>
        </p:nvSpPr>
        <p:spPr>
          <a:xfrm>
            <a:off x="1042416" y="457200"/>
            <a:ext cx="54864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7"/>
              </a:buClr>
              <a:buSzPts val="1200"/>
              <a:buFont typeface="Calibri"/>
              <a:buNone/>
            </a:pPr>
            <a:r>
              <a:rPr b="1" i="0" lang="en-US" sz="1200" u="none" cap="none" strike="noStrike">
                <a:solidFill>
                  <a:srgbClr val="5A6B87"/>
                </a:solidFill>
                <a:latin typeface="Calibri"/>
                <a:ea typeface="Calibri"/>
                <a:cs typeface="Calibri"/>
                <a:sym typeface="Calibri"/>
              </a:rPr>
              <a:t>PROGRAMME CHARTER</a:t>
            </a:r>
            <a:endParaRPr b="0" i="0" sz="1200" u="none" cap="none" strike="noStrike">
              <a:solidFill>
                <a:schemeClr val="dk1"/>
              </a:solidFill>
              <a:latin typeface="Calibri"/>
              <a:ea typeface="Calibri"/>
              <a:cs typeface="Calibri"/>
              <a:sym typeface="Calibri"/>
            </a:endParaRPr>
          </a:p>
        </p:txBody>
      </p:sp>
      <p:sp>
        <p:nvSpPr>
          <p:cNvPr id="58" name="Google Shape;58;p3"/>
          <p:cNvSpPr txBox="1"/>
          <p:nvPr/>
        </p:nvSpPr>
        <p:spPr>
          <a:xfrm>
            <a:off x="548640" y="914400"/>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800"/>
              <a:buFont typeface="Cambria"/>
              <a:buNone/>
            </a:pPr>
            <a:r>
              <a:rPr b="1" i="0" lang="en-US" sz="2800" u="none" cap="none" strike="noStrike">
                <a:solidFill>
                  <a:srgbClr val="1E2761"/>
                </a:solidFill>
                <a:latin typeface="Cambria"/>
                <a:ea typeface="Cambria"/>
                <a:cs typeface="Cambria"/>
                <a:sym typeface="Cambria"/>
              </a:rPr>
              <a:t>Vision, Objectives &amp; Scope</a:t>
            </a:r>
            <a:endParaRPr b="0" i="0" sz="2800" u="none" cap="none" strike="noStrike">
              <a:solidFill>
                <a:schemeClr val="dk1"/>
              </a:solidFill>
              <a:latin typeface="Calibri"/>
              <a:ea typeface="Calibri"/>
              <a:cs typeface="Calibri"/>
              <a:sym typeface="Calibri"/>
            </a:endParaRPr>
          </a:p>
        </p:txBody>
      </p:sp>
      <p:sp>
        <p:nvSpPr>
          <p:cNvPr id="59" name="Google Shape;59;p3"/>
          <p:cNvSpPr/>
          <p:nvPr/>
        </p:nvSpPr>
        <p:spPr>
          <a:xfrm>
            <a:off x="548640" y="1554480"/>
            <a:ext cx="5486400" cy="4480560"/>
          </a:xfrm>
          <a:prstGeom prst="roundRect">
            <a:avLst>
              <a:gd fmla="val 2449" name="adj"/>
            </a:avLst>
          </a:prstGeom>
          <a:solidFill>
            <a:srgbClr val="FFFFFF"/>
          </a:solidFill>
          <a:ln>
            <a:noFill/>
          </a:ln>
          <a:effectLst>
            <a:outerShdw blurRad="76200" rotWithShape="0" algn="bl" dir="5400000" dist="25400">
              <a:srgbClr val="44546A">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txBox="1"/>
          <p:nvPr/>
        </p:nvSpPr>
        <p:spPr>
          <a:xfrm>
            <a:off x="868680" y="1783080"/>
            <a:ext cx="4846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4572E"/>
              </a:buClr>
              <a:buSzPts val="1100"/>
              <a:buFont typeface="Calibri"/>
              <a:buNone/>
            </a:pPr>
            <a:r>
              <a:rPr b="1" i="0" lang="en-US" sz="1100" u="none" cap="none" strike="noStrike">
                <a:solidFill>
                  <a:srgbClr val="E4572E"/>
                </a:solidFill>
                <a:latin typeface="Calibri"/>
                <a:ea typeface="Calibri"/>
                <a:cs typeface="Calibri"/>
                <a:sym typeface="Calibri"/>
              </a:rPr>
              <a:t>VISION</a:t>
            </a:r>
            <a:endParaRPr b="0" i="0" sz="1100" u="none" cap="none" strike="noStrike">
              <a:solidFill>
                <a:schemeClr val="dk1"/>
              </a:solidFill>
              <a:latin typeface="Calibri"/>
              <a:ea typeface="Calibri"/>
              <a:cs typeface="Calibri"/>
              <a:sym typeface="Calibri"/>
            </a:endParaRPr>
          </a:p>
        </p:txBody>
      </p:sp>
      <p:sp>
        <p:nvSpPr>
          <p:cNvPr id="61" name="Google Shape;61;p3"/>
          <p:cNvSpPr txBox="1"/>
          <p:nvPr/>
        </p:nvSpPr>
        <p:spPr>
          <a:xfrm>
            <a:off x="868680" y="2057400"/>
            <a:ext cx="48463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0" i="1" lang="en-US" sz="1400" u="none" cap="none" strike="noStrike">
                <a:solidFill>
                  <a:srgbClr val="1E2761"/>
                </a:solidFill>
                <a:latin typeface="Calibri"/>
                <a:ea typeface="Calibri"/>
                <a:cs typeface="Calibri"/>
                <a:sym typeface="Calibri"/>
              </a:rPr>
              <a:t>Turn scattered meeting discussion into structured, traceable PRDs — every requirement grounded in something a stakeholder actually said.</a:t>
            </a:r>
            <a:endParaRPr b="0" i="0" sz="1400" u="none" cap="none" strike="noStrike">
              <a:solidFill>
                <a:schemeClr val="dk1"/>
              </a:solidFill>
              <a:latin typeface="Calibri"/>
              <a:ea typeface="Calibri"/>
              <a:cs typeface="Calibri"/>
              <a:sym typeface="Calibri"/>
            </a:endParaRPr>
          </a:p>
        </p:txBody>
      </p:sp>
      <p:sp>
        <p:nvSpPr>
          <p:cNvPr id="62" name="Google Shape;62;p3"/>
          <p:cNvSpPr txBox="1"/>
          <p:nvPr/>
        </p:nvSpPr>
        <p:spPr>
          <a:xfrm>
            <a:off x="868680" y="2971800"/>
            <a:ext cx="4846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4572E"/>
              </a:buClr>
              <a:buSzPts val="1100"/>
              <a:buFont typeface="Calibri"/>
              <a:buNone/>
            </a:pPr>
            <a:r>
              <a:rPr b="1" i="0" lang="en-US" sz="1100" u="none" cap="none" strike="noStrike">
                <a:solidFill>
                  <a:srgbClr val="E4572E"/>
                </a:solidFill>
                <a:latin typeface="Calibri"/>
                <a:ea typeface="Calibri"/>
                <a:cs typeface="Calibri"/>
                <a:sym typeface="Calibri"/>
              </a:rPr>
              <a:t>OBJECTIVES</a:t>
            </a:r>
            <a:endParaRPr b="0" i="0" sz="1100" u="none" cap="none" strike="noStrike">
              <a:solidFill>
                <a:schemeClr val="dk1"/>
              </a:solidFill>
              <a:latin typeface="Calibri"/>
              <a:ea typeface="Calibri"/>
              <a:cs typeface="Calibri"/>
              <a:sym typeface="Calibri"/>
            </a:endParaRPr>
          </a:p>
        </p:txBody>
      </p:sp>
      <p:sp>
        <p:nvSpPr>
          <p:cNvPr id="63" name="Google Shape;63;p3"/>
          <p:cNvSpPr txBox="1"/>
          <p:nvPr/>
        </p:nvSpPr>
        <p:spPr>
          <a:xfrm>
            <a:off x="868680" y="3246120"/>
            <a:ext cx="4846320" cy="2651760"/>
          </a:xfrm>
          <a:prstGeom prst="rect">
            <a:avLst/>
          </a:prstGeom>
          <a:noFill/>
          <a:ln>
            <a:noFill/>
          </a:ln>
        </p:spPr>
        <p:txBody>
          <a:bodyPr anchorCtr="0" anchor="ctr" bIns="0" lIns="0" spcFirstLastPara="1" rIns="0" wrap="square" tIns="0">
            <a:noAutofit/>
          </a:bodyPr>
          <a:lstStyle/>
          <a:p>
            <a:pPr indent="-355600" lvl="0" marL="342900" marR="0" rtl="0" algn="l">
              <a:spcBef>
                <a:spcPts val="0"/>
              </a:spcBef>
              <a:spcAft>
                <a:spcPts val="0"/>
              </a:spcAft>
              <a:buClr>
                <a:srgbClr val="1E2761"/>
              </a:buClr>
              <a:buSzPts val="1500"/>
              <a:buFont typeface="Calibri"/>
              <a:buChar char="•"/>
            </a:pPr>
            <a:r>
              <a:rPr b="0" i="0" lang="en-US" sz="1500" u="none" cap="none" strike="noStrike">
                <a:solidFill>
                  <a:srgbClr val="1E2761"/>
                </a:solidFill>
                <a:latin typeface="Calibri"/>
                <a:ea typeface="Calibri"/>
                <a:cs typeface="Calibri"/>
                <a:sym typeface="Calibri"/>
              </a:rPr>
              <a:t>Cut PM/TPM time converting discussion into a first-draft PRD</a:t>
            </a:r>
            <a:endParaRPr b="0" i="0" sz="1500" u="none" cap="none" strike="noStrike">
              <a:solidFill>
                <a:schemeClr val="dk1"/>
              </a:solidFill>
              <a:latin typeface="Calibri"/>
              <a:ea typeface="Calibri"/>
              <a:cs typeface="Calibri"/>
              <a:sym typeface="Calibri"/>
            </a:endParaRPr>
          </a:p>
          <a:p>
            <a:pPr indent="-355600" lvl="0" marL="342900" marR="0" rtl="0" algn="l">
              <a:spcBef>
                <a:spcPts val="800"/>
              </a:spcBef>
              <a:spcAft>
                <a:spcPts val="0"/>
              </a:spcAft>
              <a:buClr>
                <a:srgbClr val="1E2761"/>
              </a:buClr>
              <a:buSzPts val="1500"/>
              <a:buFont typeface="Calibri"/>
              <a:buChar char="•"/>
            </a:pPr>
            <a:r>
              <a:rPr b="0" i="0" lang="en-US" sz="1500" u="none" cap="none" strike="noStrike">
                <a:solidFill>
                  <a:srgbClr val="1E2761"/>
                </a:solidFill>
                <a:latin typeface="Calibri"/>
                <a:ea typeface="Calibri"/>
                <a:cs typeface="Calibri"/>
                <a:sym typeface="Calibri"/>
              </a:rPr>
              <a:t>Standardize PRD format across all PMs for consistent estimation</a:t>
            </a:r>
            <a:endParaRPr b="0" i="0" sz="1500" u="none" cap="none" strike="noStrike">
              <a:solidFill>
                <a:schemeClr val="dk1"/>
              </a:solidFill>
              <a:latin typeface="Calibri"/>
              <a:ea typeface="Calibri"/>
              <a:cs typeface="Calibri"/>
              <a:sym typeface="Calibri"/>
            </a:endParaRPr>
          </a:p>
          <a:p>
            <a:pPr indent="-355600" lvl="0" marL="342900" marR="0" rtl="0" algn="l">
              <a:spcBef>
                <a:spcPts val="800"/>
              </a:spcBef>
              <a:spcAft>
                <a:spcPts val="0"/>
              </a:spcAft>
              <a:buClr>
                <a:srgbClr val="1E2761"/>
              </a:buClr>
              <a:buSzPts val="1500"/>
              <a:buFont typeface="Calibri"/>
              <a:buChar char="•"/>
            </a:pPr>
            <a:r>
              <a:rPr b="0" i="0" lang="en-US" sz="1500" u="none" cap="none" strike="noStrike">
                <a:solidFill>
                  <a:srgbClr val="1E2761"/>
                </a:solidFill>
                <a:latin typeface="Calibri"/>
                <a:ea typeface="Calibri"/>
                <a:cs typeface="Calibri"/>
                <a:sym typeface="Calibri"/>
              </a:rPr>
              <a:t>Surface ambiguity and contradictions before engineering starts</a:t>
            </a:r>
            <a:endParaRPr b="0" i="0" sz="1500" u="none" cap="none" strike="noStrike">
              <a:solidFill>
                <a:schemeClr val="dk1"/>
              </a:solidFill>
              <a:latin typeface="Calibri"/>
              <a:ea typeface="Calibri"/>
              <a:cs typeface="Calibri"/>
              <a:sym typeface="Calibri"/>
            </a:endParaRPr>
          </a:p>
          <a:p>
            <a:pPr indent="-355600" lvl="0" marL="342900" marR="0" rtl="0" algn="l">
              <a:spcBef>
                <a:spcPts val="800"/>
              </a:spcBef>
              <a:spcAft>
                <a:spcPts val="0"/>
              </a:spcAft>
              <a:buClr>
                <a:srgbClr val="1E2761"/>
              </a:buClr>
              <a:buSzPts val="1500"/>
              <a:buFont typeface="Calibri"/>
              <a:buChar char="•"/>
            </a:pPr>
            <a:r>
              <a:rPr b="0" i="0" lang="en-US" sz="1500" u="none" cap="none" strike="noStrike">
                <a:solidFill>
                  <a:srgbClr val="1E2761"/>
                </a:solidFill>
                <a:latin typeface="Calibri"/>
                <a:ea typeface="Calibri"/>
                <a:cs typeface="Calibri"/>
                <a:sym typeface="Calibri"/>
              </a:rPr>
              <a:t>Keep hallucination rate low enough that PMs trust the first draft</a:t>
            </a:r>
            <a:endParaRPr b="0" i="0" sz="1500" u="none" cap="none" strike="noStrike">
              <a:solidFill>
                <a:schemeClr val="dk1"/>
              </a:solidFill>
              <a:latin typeface="Calibri"/>
              <a:ea typeface="Calibri"/>
              <a:cs typeface="Calibri"/>
              <a:sym typeface="Calibri"/>
            </a:endParaRPr>
          </a:p>
        </p:txBody>
      </p:sp>
      <p:sp>
        <p:nvSpPr>
          <p:cNvPr id="64" name="Google Shape;64;p3"/>
          <p:cNvSpPr/>
          <p:nvPr/>
        </p:nvSpPr>
        <p:spPr>
          <a:xfrm>
            <a:off x="6309360" y="1554480"/>
            <a:ext cx="5349240" cy="4480560"/>
          </a:xfrm>
          <a:prstGeom prst="roundRect">
            <a:avLst>
              <a:gd fmla="val 2449"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
          <p:cNvSpPr txBox="1"/>
          <p:nvPr/>
        </p:nvSpPr>
        <p:spPr>
          <a:xfrm>
            <a:off x="6629400" y="1783080"/>
            <a:ext cx="4663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100"/>
              <a:buFont typeface="Calibri"/>
              <a:buNone/>
            </a:pPr>
            <a:r>
              <a:rPr b="1" i="0" lang="en-US" u="none" cap="none" strike="noStrike">
                <a:solidFill>
                  <a:srgbClr val="CADCFC"/>
                </a:solidFill>
                <a:latin typeface="Calibri"/>
                <a:ea typeface="Calibri"/>
                <a:cs typeface="Calibri"/>
                <a:sym typeface="Calibri"/>
              </a:rPr>
              <a:t>SCOPE</a:t>
            </a:r>
            <a:endParaRPr b="0" i="0" u="none" cap="none" strike="noStrike">
              <a:solidFill>
                <a:schemeClr val="dk1"/>
              </a:solidFill>
              <a:latin typeface="Calibri"/>
              <a:ea typeface="Calibri"/>
              <a:cs typeface="Calibri"/>
              <a:sym typeface="Calibri"/>
            </a:endParaRPr>
          </a:p>
        </p:txBody>
      </p:sp>
      <p:sp>
        <p:nvSpPr>
          <p:cNvPr id="66" name="Google Shape;66;p3"/>
          <p:cNvSpPr txBox="1"/>
          <p:nvPr/>
        </p:nvSpPr>
        <p:spPr>
          <a:xfrm>
            <a:off x="6629400" y="2103120"/>
            <a:ext cx="4663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Core (mandatory)</a:t>
            </a:r>
            <a:endParaRPr b="0" i="0" sz="1300" u="none" cap="none" strike="noStrike">
              <a:solidFill>
                <a:schemeClr val="dk1"/>
              </a:solidFill>
              <a:latin typeface="Calibri"/>
              <a:ea typeface="Calibri"/>
              <a:cs typeface="Calibri"/>
              <a:sym typeface="Calibri"/>
            </a:endParaRPr>
          </a:p>
        </p:txBody>
      </p:sp>
      <p:sp>
        <p:nvSpPr>
          <p:cNvPr id="67" name="Google Shape;67;p3"/>
          <p:cNvSpPr txBox="1"/>
          <p:nvPr/>
        </p:nvSpPr>
        <p:spPr>
          <a:xfrm>
            <a:off x="6629400" y="2395728"/>
            <a:ext cx="4663440" cy="868680"/>
          </a:xfrm>
          <a:prstGeom prst="rect">
            <a:avLst/>
          </a:prstGeom>
          <a:noFill/>
          <a:ln>
            <a:noFill/>
          </a:ln>
        </p:spPr>
        <p:txBody>
          <a:bodyPr anchorCtr="0" anchor="ctr" bIns="0" lIns="0" spcFirstLastPara="1" rIns="0" wrap="square" tIns="0">
            <a:noAutofit/>
          </a:bodyPr>
          <a:lstStyle/>
          <a:p>
            <a:pPr indent="-346075" lvl="0" marL="342900" marR="0" rtl="0" algn="l">
              <a:spcBef>
                <a:spcPts val="0"/>
              </a:spcBef>
              <a:spcAft>
                <a:spcPts val="0"/>
              </a:spcAft>
              <a:buClr>
                <a:srgbClr val="CADCFC"/>
              </a:buClr>
              <a:buSzPts val="1300"/>
              <a:buFont typeface="Calibri"/>
              <a:buChar char="•"/>
            </a:pPr>
            <a:r>
              <a:rPr b="0" i="0" lang="en-US" sz="1300" u="none" cap="none" strike="noStrike">
                <a:solidFill>
                  <a:srgbClr val="CADCFC"/>
                </a:solidFill>
                <a:latin typeface="Calibri"/>
                <a:ea typeface="Calibri"/>
                <a:cs typeface="Calibri"/>
                <a:sym typeface="Calibri"/>
              </a:rPr>
              <a:t>Requirement Extraction</a:t>
            </a:r>
            <a:endParaRPr b="0" i="0" sz="1300" u="none" cap="none" strike="noStrike">
              <a:solidFill>
                <a:schemeClr val="dk1"/>
              </a:solidFill>
              <a:latin typeface="Calibri"/>
              <a:ea typeface="Calibri"/>
              <a:cs typeface="Calibri"/>
              <a:sym typeface="Calibri"/>
            </a:endParaRPr>
          </a:p>
          <a:p>
            <a:pPr indent="-346075" lvl="0" marL="342900" marR="0" rtl="0" algn="l">
              <a:spcBef>
                <a:spcPts val="400"/>
              </a:spcBef>
              <a:spcAft>
                <a:spcPts val="0"/>
              </a:spcAft>
              <a:buClr>
                <a:srgbClr val="CADCFC"/>
              </a:buClr>
              <a:buSzPts val="1300"/>
              <a:buFont typeface="Calibri"/>
              <a:buChar char="•"/>
            </a:pPr>
            <a:r>
              <a:rPr b="0" i="0" lang="en-US" sz="1300" u="none" cap="none" strike="noStrike">
                <a:solidFill>
                  <a:srgbClr val="CADCFC"/>
                </a:solidFill>
                <a:latin typeface="Calibri"/>
                <a:ea typeface="Calibri"/>
                <a:cs typeface="Calibri"/>
                <a:sym typeface="Calibri"/>
              </a:rPr>
              <a:t>PRD Generation</a:t>
            </a:r>
            <a:endParaRPr b="0" i="0" sz="1300" u="none" cap="none" strike="noStrike">
              <a:solidFill>
                <a:schemeClr val="dk1"/>
              </a:solidFill>
              <a:latin typeface="Calibri"/>
              <a:ea typeface="Calibri"/>
              <a:cs typeface="Calibri"/>
              <a:sym typeface="Calibri"/>
            </a:endParaRPr>
          </a:p>
          <a:p>
            <a:pPr indent="-346075" lvl="0" marL="342900" marR="0" rtl="0" algn="l">
              <a:spcBef>
                <a:spcPts val="400"/>
              </a:spcBef>
              <a:spcAft>
                <a:spcPts val="0"/>
              </a:spcAft>
              <a:buClr>
                <a:srgbClr val="CADCFC"/>
              </a:buClr>
              <a:buSzPts val="1300"/>
              <a:buFont typeface="Calibri"/>
              <a:buChar char="•"/>
            </a:pPr>
            <a:r>
              <a:rPr b="0" i="0" lang="en-US" sz="1300" u="none" cap="none" strike="noStrike">
                <a:solidFill>
                  <a:srgbClr val="CADCFC"/>
                </a:solidFill>
                <a:latin typeface="Calibri"/>
                <a:ea typeface="Calibri"/>
                <a:cs typeface="Calibri"/>
                <a:sym typeface="Calibri"/>
              </a:rPr>
              <a:t>Epic / User Story Breakdown</a:t>
            </a:r>
            <a:endParaRPr b="0" i="0" sz="1300" u="none" cap="none" strike="noStrike">
              <a:solidFill>
                <a:schemeClr val="dk1"/>
              </a:solidFill>
              <a:latin typeface="Calibri"/>
              <a:ea typeface="Calibri"/>
              <a:cs typeface="Calibri"/>
              <a:sym typeface="Calibri"/>
            </a:endParaRPr>
          </a:p>
        </p:txBody>
      </p:sp>
      <p:sp>
        <p:nvSpPr>
          <p:cNvPr id="68" name="Google Shape;68;p3"/>
          <p:cNvSpPr txBox="1"/>
          <p:nvPr/>
        </p:nvSpPr>
        <p:spPr>
          <a:xfrm>
            <a:off x="6629400" y="3310128"/>
            <a:ext cx="4663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500" u="none" cap="none" strike="noStrike">
                <a:solidFill>
                  <a:srgbClr val="FFFFFF"/>
                </a:solidFill>
                <a:latin typeface="Calibri"/>
                <a:ea typeface="Calibri"/>
                <a:cs typeface="Calibri"/>
                <a:sym typeface="Calibri"/>
              </a:rPr>
              <a:t>Extended (committed)</a:t>
            </a:r>
            <a:endParaRPr b="0" i="0" sz="1500" u="none" cap="none" strike="noStrike">
              <a:solidFill>
                <a:schemeClr val="dk1"/>
              </a:solidFill>
              <a:latin typeface="Calibri"/>
              <a:ea typeface="Calibri"/>
              <a:cs typeface="Calibri"/>
              <a:sym typeface="Calibri"/>
            </a:endParaRPr>
          </a:p>
        </p:txBody>
      </p:sp>
      <p:sp>
        <p:nvSpPr>
          <p:cNvPr id="69" name="Google Shape;69;p3"/>
          <p:cNvSpPr txBox="1"/>
          <p:nvPr/>
        </p:nvSpPr>
        <p:spPr>
          <a:xfrm>
            <a:off x="6629400" y="3602736"/>
            <a:ext cx="46634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250"/>
              <a:buFont typeface="Calibri"/>
              <a:buNone/>
            </a:pPr>
            <a:r>
              <a:rPr b="0" i="0" lang="en-US" sz="1350" u="none" cap="none" strike="noStrike">
                <a:solidFill>
                  <a:srgbClr val="CADCFC"/>
                </a:solidFill>
                <a:latin typeface="Calibri"/>
                <a:ea typeface="Calibri"/>
                <a:cs typeface="Calibri"/>
                <a:sym typeface="Calibri"/>
              </a:rPr>
              <a:t>Gap Analyzer — reinforces the same ambiguity-detection judgment the core pipeline is graded on</a:t>
            </a:r>
            <a:endParaRPr b="0" i="0" sz="1350" u="none" cap="none" strike="noStrike">
              <a:solidFill>
                <a:schemeClr val="dk1"/>
              </a:solidFill>
              <a:latin typeface="Calibri"/>
              <a:ea typeface="Calibri"/>
              <a:cs typeface="Calibri"/>
              <a:sym typeface="Calibri"/>
            </a:endParaRPr>
          </a:p>
        </p:txBody>
      </p:sp>
      <p:sp>
        <p:nvSpPr>
          <p:cNvPr id="70" name="Google Shape;70;p3"/>
          <p:cNvSpPr txBox="1"/>
          <p:nvPr/>
        </p:nvSpPr>
        <p:spPr>
          <a:xfrm>
            <a:off x="6629400" y="4251960"/>
            <a:ext cx="4663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Backlog (not committed)</a:t>
            </a:r>
            <a:endParaRPr b="0" i="0" sz="1300" u="none" cap="none" strike="noStrike">
              <a:solidFill>
                <a:schemeClr val="dk1"/>
              </a:solidFill>
              <a:latin typeface="Calibri"/>
              <a:ea typeface="Calibri"/>
              <a:cs typeface="Calibri"/>
              <a:sym typeface="Calibri"/>
            </a:endParaRPr>
          </a:p>
        </p:txBody>
      </p:sp>
      <p:sp>
        <p:nvSpPr>
          <p:cNvPr id="71" name="Google Shape;71;p3"/>
          <p:cNvSpPr txBox="1"/>
          <p:nvPr/>
        </p:nvSpPr>
        <p:spPr>
          <a:xfrm>
            <a:off x="6629400" y="4544568"/>
            <a:ext cx="4663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250"/>
              <a:buFont typeface="Calibri"/>
              <a:buNone/>
            </a:pPr>
            <a:r>
              <a:rPr b="0" i="0" lang="en-US" sz="1350" u="none" cap="none" strike="noStrike">
                <a:solidFill>
                  <a:srgbClr val="CADCFC"/>
                </a:solidFill>
                <a:latin typeface="Calibri"/>
                <a:ea typeface="Calibri"/>
                <a:cs typeface="Calibri"/>
                <a:sym typeface="Calibri"/>
              </a:rPr>
              <a:t>Scope Estimator</a:t>
            </a:r>
            <a:endParaRPr b="0" i="0" sz="1350" u="none" cap="none" strike="noStrike">
              <a:solidFill>
                <a:schemeClr val="dk1"/>
              </a:solidFill>
              <a:latin typeface="Calibri"/>
              <a:ea typeface="Calibri"/>
              <a:cs typeface="Calibri"/>
              <a:sym typeface="Calibri"/>
            </a:endParaRPr>
          </a:p>
        </p:txBody>
      </p:sp>
      <p:sp>
        <p:nvSpPr>
          <p:cNvPr id="72" name="Google Shape;72;p3"/>
          <p:cNvSpPr txBox="1"/>
          <p:nvPr/>
        </p:nvSpPr>
        <p:spPr>
          <a:xfrm>
            <a:off x="6629400" y="4937760"/>
            <a:ext cx="46635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600" u="none" cap="none" strike="noStrike">
                <a:solidFill>
                  <a:srgbClr val="FFFFFF"/>
                </a:solidFill>
                <a:latin typeface="Calibri"/>
                <a:ea typeface="Calibri"/>
                <a:cs typeface="Calibri"/>
                <a:sym typeface="Calibri"/>
              </a:rPr>
              <a:t>Out of scope</a:t>
            </a:r>
            <a:endParaRPr b="0" i="0" sz="1600" u="none" cap="none" strike="noStrike">
              <a:solidFill>
                <a:schemeClr val="dk1"/>
              </a:solidFill>
              <a:latin typeface="Calibri"/>
              <a:ea typeface="Calibri"/>
              <a:cs typeface="Calibri"/>
              <a:sym typeface="Calibri"/>
            </a:endParaRPr>
          </a:p>
        </p:txBody>
      </p:sp>
      <p:sp>
        <p:nvSpPr>
          <p:cNvPr id="73" name="Google Shape;73;p3"/>
          <p:cNvSpPr txBox="1"/>
          <p:nvPr/>
        </p:nvSpPr>
        <p:spPr>
          <a:xfrm>
            <a:off x="6629400" y="5230368"/>
            <a:ext cx="46634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250"/>
              <a:buFont typeface="Calibri"/>
              <a:buNone/>
            </a:pPr>
            <a:r>
              <a:rPr b="0" i="0" lang="en-US" sz="1350" u="none" cap="none" strike="noStrike">
                <a:solidFill>
                  <a:srgbClr val="CADCFC"/>
                </a:solidFill>
                <a:latin typeface="Calibri"/>
                <a:ea typeface="Calibri"/>
                <a:cs typeface="Calibri"/>
                <a:sym typeface="Calibri"/>
              </a:rPr>
              <a:t>Fine-tuning · RAG over past PRDs · HITL UI · live integrations</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E"/>
        </a:solidFill>
      </p:bgPr>
    </p:bg>
    <p:spTree>
      <p:nvGrpSpPr>
        <p:cNvPr id="78" name="Shape 78"/>
        <p:cNvGrpSpPr/>
        <p:nvPr/>
      </p:nvGrpSpPr>
      <p:grpSpPr>
        <a:xfrm>
          <a:off x="0" y="0"/>
          <a:ext cx="0" cy="0"/>
          <a:chOff x="0" y="0"/>
          <a:chExt cx="0" cy="0"/>
        </a:xfrm>
      </p:grpSpPr>
      <p:sp>
        <p:nvSpPr>
          <p:cNvPr id="79" name="Google Shape;79;p4"/>
          <p:cNvSpPr/>
          <p:nvPr/>
        </p:nvSpPr>
        <p:spPr>
          <a:xfrm>
            <a:off x="548640" y="457200"/>
            <a:ext cx="384048" cy="384048"/>
          </a:xfrm>
          <a:prstGeom prst="ellipse">
            <a:avLst/>
          </a:prstGeom>
          <a:solidFill>
            <a:srgbClr val="E457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4"/>
          <p:cNvSpPr txBox="1"/>
          <p:nvPr/>
        </p:nvSpPr>
        <p:spPr>
          <a:xfrm>
            <a:off x="548640" y="45720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81" name="Google Shape;81;p4"/>
          <p:cNvSpPr txBox="1"/>
          <p:nvPr/>
        </p:nvSpPr>
        <p:spPr>
          <a:xfrm>
            <a:off x="1042416" y="457200"/>
            <a:ext cx="54864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7"/>
              </a:buClr>
              <a:buSzPts val="1200"/>
              <a:buFont typeface="Calibri"/>
              <a:buNone/>
            </a:pPr>
            <a:r>
              <a:rPr b="1" i="0" lang="en-US" sz="1200" u="none" cap="none" strike="noStrike">
                <a:solidFill>
                  <a:srgbClr val="5A6B87"/>
                </a:solidFill>
                <a:latin typeface="Calibri"/>
                <a:ea typeface="Calibri"/>
                <a:cs typeface="Calibri"/>
                <a:sym typeface="Calibri"/>
              </a:rPr>
              <a:t>DESIGN &amp; ARCHITECTURE</a:t>
            </a:r>
            <a:endParaRPr b="0" i="0" sz="1200" u="none" cap="none" strike="noStrike">
              <a:solidFill>
                <a:schemeClr val="dk1"/>
              </a:solidFill>
              <a:latin typeface="Calibri"/>
              <a:ea typeface="Calibri"/>
              <a:cs typeface="Calibri"/>
              <a:sym typeface="Calibri"/>
            </a:endParaRPr>
          </a:p>
        </p:txBody>
      </p:sp>
      <p:sp>
        <p:nvSpPr>
          <p:cNvPr id="82" name="Google Shape;82;p4"/>
          <p:cNvSpPr txBox="1"/>
          <p:nvPr/>
        </p:nvSpPr>
        <p:spPr>
          <a:xfrm>
            <a:off x="548640" y="914400"/>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800"/>
              <a:buFont typeface="Cambria"/>
              <a:buNone/>
            </a:pPr>
            <a:r>
              <a:rPr b="1" i="0" lang="en-US" sz="2800" u="none" cap="none" strike="noStrike">
                <a:solidFill>
                  <a:srgbClr val="1E2761"/>
                </a:solidFill>
                <a:latin typeface="Cambria"/>
                <a:ea typeface="Cambria"/>
                <a:cs typeface="Cambria"/>
                <a:sym typeface="Cambria"/>
              </a:rPr>
              <a:t>Sequential Pipeline with Early Gap Detection</a:t>
            </a:r>
            <a:endParaRPr b="0" i="0" sz="2800" u="none" cap="none" strike="noStrike">
              <a:solidFill>
                <a:schemeClr val="dk1"/>
              </a:solidFill>
              <a:latin typeface="Calibri"/>
              <a:ea typeface="Calibri"/>
              <a:cs typeface="Calibri"/>
              <a:sym typeface="Calibri"/>
            </a:endParaRPr>
          </a:p>
        </p:txBody>
      </p:sp>
      <p:sp>
        <p:nvSpPr>
          <p:cNvPr id="83" name="Google Shape;83;p4"/>
          <p:cNvSpPr/>
          <p:nvPr/>
        </p:nvSpPr>
        <p:spPr>
          <a:xfrm>
            <a:off x="3566160" y="1600200"/>
            <a:ext cx="2926080" cy="502920"/>
          </a:xfrm>
          <a:prstGeom prst="roundRect">
            <a:avLst>
              <a:gd fmla="val 14545" name="adj"/>
            </a:avLst>
          </a:prstGeom>
          <a:solidFill>
            <a:srgbClr val="5A6B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4"/>
          <p:cNvSpPr txBox="1"/>
          <p:nvPr/>
        </p:nvSpPr>
        <p:spPr>
          <a:xfrm>
            <a:off x="3566160" y="1600200"/>
            <a:ext cx="292608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Transcript / brief / notes</a:t>
            </a:r>
            <a:endParaRPr b="0" i="0" sz="1300" u="none" cap="none" strike="noStrike">
              <a:solidFill>
                <a:schemeClr val="dk1"/>
              </a:solidFill>
              <a:latin typeface="Calibri"/>
              <a:ea typeface="Calibri"/>
              <a:cs typeface="Calibri"/>
              <a:sym typeface="Calibri"/>
            </a:endParaRPr>
          </a:p>
        </p:txBody>
      </p:sp>
      <p:sp>
        <p:nvSpPr>
          <p:cNvPr id="85" name="Google Shape;85;p4"/>
          <p:cNvSpPr/>
          <p:nvPr/>
        </p:nvSpPr>
        <p:spPr>
          <a:xfrm>
            <a:off x="3566160" y="2423160"/>
            <a:ext cx="2926080" cy="685800"/>
          </a:xfrm>
          <a:prstGeom prst="roundRect">
            <a:avLst>
              <a:gd fmla="val 10667"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4"/>
          <p:cNvSpPr txBox="1"/>
          <p:nvPr/>
        </p:nvSpPr>
        <p:spPr>
          <a:xfrm>
            <a:off x="3566160" y="2496312"/>
            <a:ext cx="2926080" cy="37719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Requirement Extractor</a:t>
            </a:r>
            <a:endParaRPr b="0" i="0" sz="1300" u="none" cap="none" strike="noStrike">
              <a:solidFill>
                <a:schemeClr val="dk1"/>
              </a:solidFill>
              <a:latin typeface="Calibri"/>
              <a:ea typeface="Calibri"/>
              <a:cs typeface="Calibri"/>
              <a:sym typeface="Calibri"/>
            </a:endParaRPr>
          </a:p>
        </p:txBody>
      </p:sp>
      <p:sp>
        <p:nvSpPr>
          <p:cNvPr id="87" name="Google Shape;87;p4"/>
          <p:cNvSpPr txBox="1"/>
          <p:nvPr/>
        </p:nvSpPr>
        <p:spPr>
          <a:xfrm>
            <a:off x="3566160" y="2800350"/>
            <a:ext cx="292608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Stated vs ambiguous</a:t>
            </a:r>
            <a:endParaRPr b="0" i="0" sz="1050" u="none" cap="none" strike="noStrike">
              <a:solidFill>
                <a:schemeClr val="dk1"/>
              </a:solidFill>
              <a:latin typeface="Calibri"/>
              <a:ea typeface="Calibri"/>
              <a:cs typeface="Calibri"/>
              <a:sym typeface="Calibri"/>
            </a:endParaRPr>
          </a:p>
        </p:txBody>
      </p:sp>
      <p:cxnSp>
        <p:nvCxnSpPr>
          <p:cNvPr id="88" name="Google Shape;88;p4"/>
          <p:cNvCxnSpPr/>
          <p:nvPr/>
        </p:nvCxnSpPr>
        <p:spPr>
          <a:xfrm>
            <a:off x="5029200" y="2103120"/>
            <a:ext cx="9144" cy="320040"/>
          </a:xfrm>
          <a:prstGeom prst="straightConnector1">
            <a:avLst/>
          </a:prstGeom>
          <a:noFill/>
          <a:ln cap="flat" cmpd="sng" w="19050">
            <a:solidFill>
              <a:srgbClr val="5A6B87"/>
            </a:solidFill>
            <a:prstDash val="solid"/>
            <a:round/>
            <a:headEnd len="sm" w="sm" type="none"/>
            <a:tailEnd len="med" w="med" type="triangle"/>
          </a:ln>
        </p:spPr>
      </p:cxnSp>
      <p:sp>
        <p:nvSpPr>
          <p:cNvPr id="89" name="Google Shape;89;p4"/>
          <p:cNvSpPr/>
          <p:nvPr/>
        </p:nvSpPr>
        <p:spPr>
          <a:xfrm>
            <a:off x="822960" y="3520440"/>
            <a:ext cx="2743200" cy="685800"/>
          </a:xfrm>
          <a:prstGeom prst="roundRect">
            <a:avLst>
              <a:gd fmla="val 10667"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4"/>
          <p:cNvSpPr txBox="1"/>
          <p:nvPr/>
        </p:nvSpPr>
        <p:spPr>
          <a:xfrm>
            <a:off x="822960" y="3593592"/>
            <a:ext cx="2743200" cy="37719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Gap Analyzer</a:t>
            </a:r>
            <a:endParaRPr b="0" i="0" sz="1300" u="none" cap="none" strike="noStrike">
              <a:solidFill>
                <a:schemeClr val="dk1"/>
              </a:solidFill>
              <a:latin typeface="Calibri"/>
              <a:ea typeface="Calibri"/>
              <a:cs typeface="Calibri"/>
              <a:sym typeface="Calibri"/>
            </a:endParaRPr>
          </a:p>
        </p:txBody>
      </p:sp>
      <p:sp>
        <p:nvSpPr>
          <p:cNvPr id="91" name="Google Shape;91;p4"/>
          <p:cNvSpPr txBox="1"/>
          <p:nvPr/>
        </p:nvSpPr>
        <p:spPr>
          <a:xfrm>
            <a:off x="822960" y="3897630"/>
            <a:ext cx="27432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Flags gaps, asks questions</a:t>
            </a:r>
            <a:endParaRPr b="0" i="0" sz="1050" u="none" cap="none" strike="noStrike">
              <a:solidFill>
                <a:schemeClr val="dk1"/>
              </a:solidFill>
              <a:latin typeface="Calibri"/>
              <a:ea typeface="Calibri"/>
              <a:cs typeface="Calibri"/>
              <a:sym typeface="Calibri"/>
            </a:endParaRPr>
          </a:p>
        </p:txBody>
      </p:sp>
      <p:sp>
        <p:nvSpPr>
          <p:cNvPr id="92" name="Google Shape;92;p4"/>
          <p:cNvSpPr/>
          <p:nvPr/>
        </p:nvSpPr>
        <p:spPr>
          <a:xfrm>
            <a:off x="6309360" y="3520440"/>
            <a:ext cx="2743200" cy="685800"/>
          </a:xfrm>
          <a:prstGeom prst="roundRect">
            <a:avLst>
              <a:gd fmla="val 10667" name="adj"/>
            </a:avLst>
          </a:prstGeom>
          <a:solidFill>
            <a:srgbClr val="3D4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4"/>
          <p:cNvSpPr txBox="1"/>
          <p:nvPr/>
        </p:nvSpPr>
        <p:spPr>
          <a:xfrm>
            <a:off x="6309360" y="3593592"/>
            <a:ext cx="2743200" cy="37719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PRD Generator</a:t>
            </a:r>
            <a:endParaRPr b="0" i="0" sz="1300" u="none" cap="none" strike="noStrike">
              <a:solidFill>
                <a:schemeClr val="dk1"/>
              </a:solidFill>
              <a:latin typeface="Calibri"/>
              <a:ea typeface="Calibri"/>
              <a:cs typeface="Calibri"/>
              <a:sym typeface="Calibri"/>
            </a:endParaRPr>
          </a:p>
        </p:txBody>
      </p:sp>
      <p:sp>
        <p:nvSpPr>
          <p:cNvPr id="94" name="Google Shape;94;p4"/>
          <p:cNvSpPr txBox="1"/>
          <p:nvPr/>
        </p:nvSpPr>
        <p:spPr>
          <a:xfrm>
            <a:off x="6309360" y="3897630"/>
            <a:ext cx="27432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Fills template, grounded</a:t>
            </a:r>
            <a:endParaRPr b="0" i="0" sz="1050" u="none" cap="none" strike="noStrike">
              <a:solidFill>
                <a:schemeClr val="dk1"/>
              </a:solidFill>
              <a:latin typeface="Calibri"/>
              <a:ea typeface="Calibri"/>
              <a:cs typeface="Calibri"/>
              <a:sym typeface="Calibri"/>
            </a:endParaRPr>
          </a:p>
        </p:txBody>
      </p:sp>
      <p:cxnSp>
        <p:nvCxnSpPr>
          <p:cNvPr id="95" name="Google Shape;95;p4"/>
          <p:cNvCxnSpPr/>
          <p:nvPr/>
        </p:nvCxnSpPr>
        <p:spPr>
          <a:xfrm flipH="1">
            <a:off x="2194560" y="3108960"/>
            <a:ext cx="2834640" cy="411480"/>
          </a:xfrm>
          <a:prstGeom prst="straightConnector1">
            <a:avLst/>
          </a:prstGeom>
          <a:noFill/>
          <a:ln cap="flat" cmpd="sng" w="19050">
            <a:solidFill>
              <a:srgbClr val="5A6B87"/>
            </a:solidFill>
            <a:prstDash val="solid"/>
            <a:round/>
            <a:headEnd len="sm" w="sm" type="none"/>
            <a:tailEnd len="med" w="med" type="triangle"/>
          </a:ln>
        </p:spPr>
      </p:cxnSp>
      <p:cxnSp>
        <p:nvCxnSpPr>
          <p:cNvPr id="96" name="Google Shape;96;p4"/>
          <p:cNvCxnSpPr/>
          <p:nvPr/>
        </p:nvCxnSpPr>
        <p:spPr>
          <a:xfrm>
            <a:off x="5029200" y="3108960"/>
            <a:ext cx="2651760" cy="411480"/>
          </a:xfrm>
          <a:prstGeom prst="straightConnector1">
            <a:avLst/>
          </a:prstGeom>
          <a:noFill/>
          <a:ln cap="flat" cmpd="sng" w="19050">
            <a:solidFill>
              <a:srgbClr val="5A6B87"/>
            </a:solidFill>
            <a:prstDash val="solid"/>
            <a:round/>
            <a:headEnd len="sm" w="sm" type="none"/>
            <a:tailEnd len="med" w="med" type="triangle"/>
          </a:ln>
        </p:spPr>
      </p:cxnSp>
      <p:sp>
        <p:nvSpPr>
          <p:cNvPr id="97" name="Google Shape;97;p4"/>
          <p:cNvSpPr/>
          <p:nvPr/>
        </p:nvSpPr>
        <p:spPr>
          <a:xfrm>
            <a:off x="6309360" y="4526280"/>
            <a:ext cx="2743200" cy="685800"/>
          </a:xfrm>
          <a:prstGeom prst="roundRect">
            <a:avLst>
              <a:gd fmla="val 10667" name="adj"/>
            </a:avLst>
          </a:prstGeom>
          <a:solidFill>
            <a:srgbClr val="3D4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
          <p:cNvSpPr txBox="1"/>
          <p:nvPr/>
        </p:nvSpPr>
        <p:spPr>
          <a:xfrm>
            <a:off x="6309360" y="4599432"/>
            <a:ext cx="2743200" cy="37719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Story Breakdown</a:t>
            </a:r>
            <a:endParaRPr b="0" i="0" sz="1300" u="none" cap="none" strike="noStrike">
              <a:solidFill>
                <a:schemeClr val="dk1"/>
              </a:solidFill>
              <a:latin typeface="Calibri"/>
              <a:ea typeface="Calibri"/>
              <a:cs typeface="Calibri"/>
              <a:sym typeface="Calibri"/>
            </a:endParaRPr>
          </a:p>
        </p:txBody>
      </p:sp>
      <p:sp>
        <p:nvSpPr>
          <p:cNvPr id="99" name="Google Shape;99;p4"/>
          <p:cNvSpPr txBox="1"/>
          <p:nvPr/>
        </p:nvSpPr>
        <p:spPr>
          <a:xfrm>
            <a:off x="6309360" y="4903470"/>
            <a:ext cx="27432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Epics, stories, priority</a:t>
            </a:r>
            <a:endParaRPr b="0" i="0" sz="1050" u="none" cap="none" strike="noStrike">
              <a:solidFill>
                <a:schemeClr val="dk1"/>
              </a:solidFill>
              <a:latin typeface="Calibri"/>
              <a:ea typeface="Calibri"/>
              <a:cs typeface="Calibri"/>
              <a:sym typeface="Calibri"/>
            </a:endParaRPr>
          </a:p>
        </p:txBody>
      </p:sp>
      <p:cxnSp>
        <p:nvCxnSpPr>
          <p:cNvPr id="100" name="Google Shape;100;p4"/>
          <p:cNvCxnSpPr/>
          <p:nvPr/>
        </p:nvCxnSpPr>
        <p:spPr>
          <a:xfrm>
            <a:off x="7680960" y="4206240"/>
            <a:ext cx="9144" cy="320040"/>
          </a:xfrm>
          <a:prstGeom prst="straightConnector1">
            <a:avLst/>
          </a:prstGeom>
          <a:noFill/>
          <a:ln cap="flat" cmpd="sng" w="19050">
            <a:solidFill>
              <a:srgbClr val="5A6B87"/>
            </a:solidFill>
            <a:prstDash val="solid"/>
            <a:round/>
            <a:headEnd len="sm" w="sm" type="none"/>
            <a:tailEnd len="med" w="med" type="triangle"/>
          </a:ln>
        </p:spPr>
      </p:cxnSp>
      <p:sp>
        <p:nvSpPr>
          <p:cNvPr id="101" name="Google Shape;101;p4"/>
          <p:cNvSpPr/>
          <p:nvPr/>
        </p:nvSpPr>
        <p:spPr>
          <a:xfrm>
            <a:off x="822960" y="4526280"/>
            <a:ext cx="2743200" cy="502920"/>
          </a:xfrm>
          <a:prstGeom prst="roundRect">
            <a:avLst>
              <a:gd fmla="val 14545" name="adj"/>
            </a:avLst>
          </a:prstGeom>
          <a:solidFill>
            <a:srgbClr val="5A6B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
          <p:cNvSpPr txBox="1"/>
          <p:nvPr/>
        </p:nvSpPr>
        <p:spPr>
          <a:xfrm>
            <a:off x="822960" y="4526280"/>
            <a:ext cx="27432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Clarification questions</a:t>
            </a:r>
            <a:endParaRPr b="0" i="0" sz="1300" u="none" cap="none" strike="noStrike">
              <a:solidFill>
                <a:schemeClr val="dk1"/>
              </a:solidFill>
              <a:latin typeface="Calibri"/>
              <a:ea typeface="Calibri"/>
              <a:cs typeface="Calibri"/>
              <a:sym typeface="Calibri"/>
            </a:endParaRPr>
          </a:p>
        </p:txBody>
      </p:sp>
      <p:cxnSp>
        <p:nvCxnSpPr>
          <p:cNvPr id="103" name="Google Shape;103;p4"/>
          <p:cNvCxnSpPr/>
          <p:nvPr/>
        </p:nvCxnSpPr>
        <p:spPr>
          <a:xfrm>
            <a:off x="2194560" y="4206240"/>
            <a:ext cx="9144" cy="320040"/>
          </a:xfrm>
          <a:prstGeom prst="straightConnector1">
            <a:avLst/>
          </a:prstGeom>
          <a:noFill/>
          <a:ln cap="flat" cmpd="sng" w="19050">
            <a:solidFill>
              <a:srgbClr val="5A6B87"/>
            </a:solidFill>
            <a:prstDash val="solid"/>
            <a:round/>
            <a:headEnd len="sm" w="sm" type="none"/>
            <a:tailEnd len="med" w="med" type="triangle"/>
          </a:ln>
        </p:spPr>
      </p:cxnSp>
      <p:sp>
        <p:nvSpPr>
          <p:cNvPr id="104" name="Google Shape;104;p4"/>
          <p:cNvSpPr/>
          <p:nvPr/>
        </p:nvSpPr>
        <p:spPr>
          <a:xfrm>
            <a:off x="6309360" y="5532120"/>
            <a:ext cx="2743200" cy="640080"/>
          </a:xfrm>
          <a:prstGeom prst="roundRect">
            <a:avLst>
              <a:gd fmla="val 11429" name="adj"/>
            </a:avLst>
          </a:prstGeom>
          <a:solidFill>
            <a:srgbClr val="5A6B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
          <p:cNvSpPr txBox="1"/>
          <p:nvPr/>
        </p:nvSpPr>
        <p:spPr>
          <a:xfrm>
            <a:off x="6309360" y="5605272"/>
            <a:ext cx="2743200" cy="352044"/>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PRD + user stories</a:t>
            </a:r>
            <a:endParaRPr b="0" i="0" sz="1300" u="none" cap="none" strike="noStrike">
              <a:solidFill>
                <a:schemeClr val="dk1"/>
              </a:solidFill>
              <a:latin typeface="Calibri"/>
              <a:ea typeface="Calibri"/>
              <a:cs typeface="Calibri"/>
              <a:sym typeface="Calibri"/>
            </a:endParaRPr>
          </a:p>
        </p:txBody>
      </p:sp>
      <p:sp>
        <p:nvSpPr>
          <p:cNvPr id="106" name="Google Shape;106;p4"/>
          <p:cNvSpPr txBox="1"/>
          <p:nvPr/>
        </p:nvSpPr>
        <p:spPr>
          <a:xfrm>
            <a:off x="6309360" y="5884164"/>
            <a:ext cx="2743200" cy="25603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Markdown, per template</a:t>
            </a:r>
            <a:endParaRPr b="0" i="0" sz="1050" u="none" cap="none" strike="noStrike">
              <a:solidFill>
                <a:schemeClr val="dk1"/>
              </a:solidFill>
              <a:latin typeface="Calibri"/>
              <a:ea typeface="Calibri"/>
              <a:cs typeface="Calibri"/>
              <a:sym typeface="Calibri"/>
            </a:endParaRPr>
          </a:p>
        </p:txBody>
      </p:sp>
      <p:cxnSp>
        <p:nvCxnSpPr>
          <p:cNvPr id="107" name="Google Shape;107;p4"/>
          <p:cNvCxnSpPr/>
          <p:nvPr/>
        </p:nvCxnSpPr>
        <p:spPr>
          <a:xfrm>
            <a:off x="7680960" y="5212080"/>
            <a:ext cx="9144" cy="320040"/>
          </a:xfrm>
          <a:prstGeom prst="straightConnector1">
            <a:avLst/>
          </a:prstGeom>
          <a:noFill/>
          <a:ln cap="flat" cmpd="sng" w="19050">
            <a:solidFill>
              <a:srgbClr val="5A6B87"/>
            </a:solidFill>
            <a:prstDash val="solid"/>
            <a:round/>
            <a:headEnd len="sm" w="sm" type="none"/>
            <a:tailEnd len="med" w="med" type="triangle"/>
          </a:ln>
        </p:spPr>
      </p:cxnSp>
      <p:sp>
        <p:nvSpPr>
          <p:cNvPr id="108" name="Google Shape;108;p4"/>
          <p:cNvSpPr/>
          <p:nvPr/>
        </p:nvSpPr>
        <p:spPr>
          <a:xfrm>
            <a:off x="9464040" y="3520440"/>
            <a:ext cx="2194560" cy="2651760"/>
          </a:xfrm>
          <a:prstGeom prst="roundRect">
            <a:avLst>
              <a:gd fmla="val 4167" name="adj"/>
            </a:avLst>
          </a:prstGeom>
          <a:solidFill>
            <a:srgbClr val="FFFFFF"/>
          </a:solidFill>
          <a:ln cap="flat" cmpd="sng" w="19050">
            <a:solidFill>
              <a:srgbClr val="E45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4"/>
          <p:cNvSpPr txBox="1"/>
          <p:nvPr/>
        </p:nvSpPr>
        <p:spPr>
          <a:xfrm>
            <a:off x="9646920" y="3657600"/>
            <a:ext cx="1828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4572E"/>
              </a:buClr>
              <a:buSzPts val="1100"/>
              <a:buFont typeface="Calibri"/>
              <a:buNone/>
            </a:pPr>
            <a:r>
              <a:rPr b="1" i="0" lang="en-US" sz="1100" u="none" cap="none" strike="noStrike">
                <a:solidFill>
                  <a:srgbClr val="E4572E"/>
                </a:solidFill>
                <a:latin typeface="Calibri"/>
                <a:ea typeface="Calibri"/>
                <a:cs typeface="Calibri"/>
                <a:sym typeface="Calibri"/>
              </a:rPr>
              <a:t>ADR-004</a:t>
            </a:r>
            <a:endParaRPr b="0" i="0" sz="1100" u="none" cap="none" strike="noStrike">
              <a:solidFill>
                <a:schemeClr val="dk1"/>
              </a:solidFill>
              <a:latin typeface="Calibri"/>
              <a:ea typeface="Calibri"/>
              <a:cs typeface="Calibri"/>
              <a:sym typeface="Calibri"/>
            </a:endParaRPr>
          </a:p>
        </p:txBody>
      </p:sp>
      <p:sp>
        <p:nvSpPr>
          <p:cNvPr id="110" name="Google Shape;110;p4"/>
          <p:cNvSpPr txBox="1"/>
          <p:nvPr/>
        </p:nvSpPr>
        <p:spPr>
          <a:xfrm>
            <a:off x="9646920" y="3950208"/>
            <a:ext cx="1828800" cy="2103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050"/>
              <a:buFont typeface="Calibri"/>
              <a:buNone/>
            </a:pPr>
            <a:r>
              <a:rPr b="0" i="0" lang="en-US" sz="1050" u="none" cap="none" strike="noStrike">
                <a:solidFill>
                  <a:srgbClr val="1E2761"/>
                </a:solidFill>
                <a:latin typeface="Calibri"/>
                <a:ea typeface="Calibri"/>
                <a:cs typeface="Calibri"/>
                <a:sym typeface="Calibri"/>
              </a:rPr>
              <a:t>Gap Analyzer moved earlier than the reference architecture — right after extraction, not after story breakdown. Catches ambiguity before it compounds through two more transformation steps.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E"/>
        </a:solidFill>
      </p:bgPr>
    </p:bg>
    <p:spTree>
      <p:nvGrpSpPr>
        <p:cNvPr id="115" name="Shape 115"/>
        <p:cNvGrpSpPr/>
        <p:nvPr/>
      </p:nvGrpSpPr>
      <p:grpSpPr>
        <a:xfrm>
          <a:off x="0" y="0"/>
          <a:ext cx="0" cy="0"/>
          <a:chOff x="0" y="0"/>
          <a:chExt cx="0" cy="0"/>
        </a:xfrm>
      </p:grpSpPr>
      <p:sp>
        <p:nvSpPr>
          <p:cNvPr id="116" name="Google Shape;116;p5"/>
          <p:cNvSpPr/>
          <p:nvPr/>
        </p:nvSpPr>
        <p:spPr>
          <a:xfrm>
            <a:off x="548640" y="457200"/>
            <a:ext cx="384048" cy="384048"/>
          </a:xfrm>
          <a:prstGeom prst="ellipse">
            <a:avLst/>
          </a:prstGeom>
          <a:solidFill>
            <a:srgbClr val="E457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5"/>
          <p:cNvSpPr txBox="1"/>
          <p:nvPr/>
        </p:nvSpPr>
        <p:spPr>
          <a:xfrm>
            <a:off x="548640" y="45720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118" name="Google Shape;118;p5"/>
          <p:cNvSpPr txBox="1"/>
          <p:nvPr/>
        </p:nvSpPr>
        <p:spPr>
          <a:xfrm>
            <a:off x="1042416" y="457200"/>
            <a:ext cx="54864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7"/>
              </a:buClr>
              <a:buSzPts val="1200"/>
              <a:buFont typeface="Calibri"/>
              <a:buNone/>
            </a:pPr>
            <a:r>
              <a:rPr b="1" i="0" lang="en-US" sz="1200" u="none" cap="none" strike="noStrike">
                <a:solidFill>
                  <a:srgbClr val="5A6B87"/>
                </a:solidFill>
                <a:latin typeface="Calibri"/>
                <a:ea typeface="Calibri"/>
                <a:cs typeface="Calibri"/>
                <a:sym typeface="Calibri"/>
              </a:rPr>
              <a:t>TOOL SELECTION</a:t>
            </a:r>
            <a:endParaRPr b="0" i="0" sz="1200" u="none" cap="none" strike="noStrike">
              <a:solidFill>
                <a:schemeClr val="dk1"/>
              </a:solidFill>
              <a:latin typeface="Calibri"/>
              <a:ea typeface="Calibri"/>
              <a:cs typeface="Calibri"/>
              <a:sym typeface="Calibri"/>
            </a:endParaRPr>
          </a:p>
        </p:txBody>
      </p:sp>
      <p:sp>
        <p:nvSpPr>
          <p:cNvPr id="119" name="Google Shape;119;p5"/>
          <p:cNvSpPr txBox="1"/>
          <p:nvPr/>
        </p:nvSpPr>
        <p:spPr>
          <a:xfrm>
            <a:off x="548640" y="914400"/>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800"/>
              <a:buFont typeface="Cambria"/>
              <a:buNone/>
            </a:pPr>
            <a:r>
              <a:rPr b="1" i="0" lang="en-US" sz="2800" u="none" cap="none" strike="noStrike">
                <a:solidFill>
                  <a:srgbClr val="1E2761"/>
                </a:solidFill>
                <a:latin typeface="Cambria"/>
                <a:ea typeface="Cambria"/>
                <a:cs typeface="Cambria"/>
                <a:sym typeface="Cambria"/>
              </a:rPr>
              <a:t>Split-Model Design: Reasoning Where It's Needed</a:t>
            </a:r>
            <a:endParaRPr b="0" i="0" sz="2800" u="none" cap="none" strike="noStrike">
              <a:solidFill>
                <a:schemeClr val="dk1"/>
              </a:solidFill>
              <a:latin typeface="Calibri"/>
              <a:ea typeface="Calibri"/>
              <a:cs typeface="Calibri"/>
              <a:sym typeface="Calibri"/>
            </a:endParaRPr>
          </a:p>
        </p:txBody>
      </p:sp>
      <p:graphicFrame>
        <p:nvGraphicFramePr>
          <p:cNvPr id="120" name="Google Shape;120;p5"/>
          <p:cNvGraphicFramePr/>
          <p:nvPr/>
        </p:nvGraphicFramePr>
        <p:xfrm>
          <a:off x="548640" y="1600200"/>
          <a:ext cx="3000000" cy="3000000"/>
        </p:xfrm>
        <a:graphic>
          <a:graphicData uri="http://schemas.openxmlformats.org/drawingml/2006/table">
            <a:tbl>
              <a:tblPr>
                <a:noFill/>
                <a:tableStyleId>{76BA6652-2D1E-4470-B958-90F078D1394A}</a:tableStyleId>
              </a:tblPr>
              <a:tblGrid>
                <a:gridCol w="3017525"/>
                <a:gridCol w="2560325"/>
                <a:gridCol w="5513825"/>
              </a:tblGrid>
              <a:tr h="457200">
                <a:tc>
                  <a:txBody>
                    <a:bodyPr/>
                    <a:lstStyle/>
                    <a:p>
                      <a:pPr indent="0" lvl="0" marL="0" marR="0" rtl="0" algn="l">
                        <a:spcBef>
                          <a:spcPts val="0"/>
                        </a:spcBef>
                        <a:spcAft>
                          <a:spcPts val="0"/>
                        </a:spcAft>
                        <a:buClr>
                          <a:srgbClr val="FFFFFF"/>
                        </a:buClr>
                        <a:buSzPts val="1250"/>
                        <a:buFont typeface="Calibri"/>
                        <a:buNone/>
                      </a:pPr>
                      <a:r>
                        <a:rPr b="1" lang="en-US" sz="1250" u="none" cap="none" strike="noStrike">
                          <a:solidFill>
                            <a:srgbClr val="FFFFFF"/>
                          </a:solidFill>
                          <a:latin typeface="Calibri"/>
                          <a:ea typeface="Calibri"/>
                          <a:cs typeface="Calibri"/>
                          <a:sym typeface="Calibri"/>
                        </a:rPr>
                        <a:t>Category</a:t>
                      </a:r>
                      <a:endParaRPr sz="1250" u="none" cap="none" strike="noStrike">
                        <a:latin typeface="Calibri"/>
                        <a:ea typeface="Calibri"/>
                        <a:cs typeface="Calibri"/>
                        <a:sym typeface="Calibri"/>
                      </a:endParaRPr>
                    </a:p>
                  </a:txBody>
                  <a:tcPr marT="45725" marB="45725" marR="91450" marL="91450" anchor="ctr">
                    <a:lnL cap="flat" cmpd="sng" w="12700">
                      <a:solidFill>
                        <a:srgbClr val="DCE3F0"/>
                      </a:solidFill>
                      <a:prstDash val="solid"/>
                      <a:round/>
                      <a:headEnd len="sm" w="sm" type="none"/>
                      <a:tailEnd len="sm" w="sm" type="none"/>
                    </a:lnL>
                    <a:lnR cap="flat" cmpd="sng" w="12700">
                      <a:solidFill>
                        <a:srgbClr val="DCE3F0"/>
                      </a:solidFill>
                      <a:prstDash val="solid"/>
                      <a:round/>
                      <a:headEnd len="sm" w="sm" type="none"/>
                      <a:tailEnd len="sm" w="sm" type="none"/>
                    </a:lnR>
                    <a:lnT cap="flat" cmpd="sng" w="12700">
                      <a:solidFill>
                        <a:srgbClr val="DCE3F0"/>
                      </a:solidFill>
                      <a:prstDash val="solid"/>
                      <a:round/>
                      <a:headEnd len="sm" w="sm" type="none"/>
                      <a:tailEnd len="sm" w="sm" type="none"/>
                    </a:lnT>
                    <a:lnB cap="flat" cmpd="sng" w="12700">
                      <a:solidFill>
                        <a:srgbClr val="DCE3F0"/>
                      </a:solidFill>
                      <a:prstDash val="solid"/>
                      <a:round/>
                      <a:headEnd len="sm" w="sm" type="none"/>
                      <a:tailEnd len="sm" w="sm" type="none"/>
                    </a:lnB>
                    <a:solidFill>
                      <a:srgbClr val="1E2761"/>
                    </a:solidFill>
                  </a:tcPr>
                </a:tc>
                <a:tc>
                  <a:txBody>
                    <a:bodyPr/>
                    <a:lstStyle/>
                    <a:p>
                      <a:pPr indent="0" lvl="0" marL="0" marR="0" rtl="0" algn="l">
                        <a:spcBef>
                          <a:spcPts val="0"/>
                        </a:spcBef>
                        <a:spcAft>
                          <a:spcPts val="0"/>
                        </a:spcAft>
                        <a:buClr>
                          <a:srgbClr val="FFFFFF"/>
                        </a:buClr>
                        <a:buSzPts val="1250"/>
                        <a:buFont typeface="Calibri"/>
                        <a:buNone/>
                      </a:pPr>
                      <a:r>
                        <a:rPr b="1" lang="en-US" sz="1250" u="none" cap="none" strike="noStrike">
                          <a:solidFill>
                            <a:srgbClr val="FFFFFF"/>
                          </a:solidFill>
                          <a:latin typeface="Calibri"/>
                          <a:ea typeface="Calibri"/>
                          <a:cs typeface="Calibri"/>
                          <a:sym typeface="Calibri"/>
                        </a:rPr>
                        <a:t>Choice</a:t>
                      </a:r>
                      <a:endParaRPr sz="1250" u="none" cap="none" strike="noStrike">
                        <a:latin typeface="Calibri"/>
                        <a:ea typeface="Calibri"/>
                        <a:cs typeface="Calibri"/>
                        <a:sym typeface="Calibri"/>
                      </a:endParaRPr>
                    </a:p>
                  </a:txBody>
                  <a:tcPr marT="45725" marB="45725" marR="91450" marL="91450" anchor="ctr">
                    <a:lnL cap="flat" cmpd="sng" w="12700">
                      <a:solidFill>
                        <a:srgbClr val="DCE3F0"/>
                      </a:solidFill>
                      <a:prstDash val="solid"/>
                      <a:round/>
                      <a:headEnd len="sm" w="sm" type="none"/>
                      <a:tailEnd len="sm" w="sm" type="none"/>
                    </a:lnL>
                    <a:lnR cap="flat" cmpd="sng" w="12700">
                      <a:solidFill>
                        <a:srgbClr val="DCE3F0"/>
                      </a:solidFill>
                      <a:prstDash val="solid"/>
                      <a:round/>
                      <a:headEnd len="sm" w="sm" type="none"/>
                      <a:tailEnd len="sm" w="sm" type="none"/>
                    </a:lnR>
                    <a:lnT cap="flat" cmpd="sng" w="12700">
                      <a:solidFill>
                        <a:srgbClr val="DCE3F0"/>
                      </a:solidFill>
                      <a:prstDash val="solid"/>
                      <a:round/>
                      <a:headEnd len="sm" w="sm" type="none"/>
                      <a:tailEnd len="sm" w="sm" type="none"/>
                    </a:lnT>
                    <a:lnB cap="flat" cmpd="sng" w="12700">
                      <a:solidFill>
                        <a:srgbClr val="DCE3F0"/>
                      </a:solidFill>
                      <a:prstDash val="solid"/>
                      <a:round/>
                      <a:headEnd len="sm" w="sm" type="none"/>
                      <a:tailEnd len="sm" w="sm" type="none"/>
                    </a:lnB>
                    <a:solidFill>
                      <a:srgbClr val="1E2761"/>
                    </a:solidFill>
                  </a:tcPr>
                </a:tc>
                <a:tc>
                  <a:txBody>
                    <a:bodyPr/>
                    <a:lstStyle/>
                    <a:p>
                      <a:pPr indent="0" lvl="0" marL="0" marR="0" rtl="0" algn="l">
                        <a:spcBef>
                          <a:spcPts val="0"/>
                        </a:spcBef>
                        <a:spcAft>
                          <a:spcPts val="0"/>
                        </a:spcAft>
                        <a:buClr>
                          <a:srgbClr val="FFFFFF"/>
                        </a:buClr>
                        <a:buSzPts val="1250"/>
                        <a:buFont typeface="Calibri"/>
                        <a:buNone/>
                      </a:pPr>
                      <a:r>
                        <a:rPr b="1" lang="en-US" sz="1250" u="none" cap="none" strike="noStrike">
                          <a:solidFill>
                            <a:srgbClr val="FFFFFF"/>
                          </a:solidFill>
                          <a:latin typeface="Calibri"/>
                          <a:ea typeface="Calibri"/>
                          <a:cs typeface="Calibri"/>
                          <a:sym typeface="Calibri"/>
                        </a:rPr>
                        <a:t>Why</a:t>
                      </a:r>
                      <a:endParaRPr sz="1250" u="none" cap="none" strike="noStrike">
                        <a:latin typeface="Calibri"/>
                        <a:ea typeface="Calibri"/>
                        <a:cs typeface="Calibri"/>
                        <a:sym typeface="Calibri"/>
                      </a:endParaRPr>
                    </a:p>
                  </a:txBody>
                  <a:tcPr marT="45725" marB="45725" marR="91450" marL="91450" anchor="ctr">
                    <a:lnL cap="flat" cmpd="sng" w="12700">
                      <a:solidFill>
                        <a:srgbClr val="DCE3F0"/>
                      </a:solidFill>
                      <a:prstDash val="solid"/>
                      <a:round/>
                      <a:headEnd len="sm" w="sm" type="none"/>
                      <a:tailEnd len="sm" w="sm" type="none"/>
                    </a:lnL>
                    <a:lnR cap="flat" cmpd="sng" w="12700">
                      <a:solidFill>
                        <a:srgbClr val="DCE3F0"/>
                      </a:solidFill>
                      <a:prstDash val="solid"/>
                      <a:round/>
                      <a:headEnd len="sm" w="sm" type="none"/>
                      <a:tailEnd len="sm" w="sm" type="none"/>
                    </a:lnR>
                    <a:lnT cap="flat" cmpd="sng" w="12700">
                      <a:solidFill>
                        <a:srgbClr val="DCE3F0"/>
                      </a:solidFill>
                      <a:prstDash val="solid"/>
                      <a:round/>
                      <a:headEnd len="sm" w="sm" type="none"/>
                      <a:tailEnd len="sm" w="sm" type="none"/>
                    </a:lnT>
                    <a:lnB cap="flat" cmpd="sng" w="12700">
                      <a:solidFill>
                        <a:srgbClr val="DCE3F0"/>
                      </a:solidFill>
                      <a:prstDash val="solid"/>
                      <a:round/>
                      <a:headEnd len="sm" w="sm" type="none"/>
                      <a:tailEnd len="sm" w="sm" type="none"/>
                    </a:lnB>
                    <a:solidFill>
                      <a:srgbClr val="1E2761"/>
                    </a:solidFill>
                  </a:tcPr>
                </a:tc>
              </a:tr>
              <a:tr h="960125">
                <a:tc>
                  <a:txBody>
                    <a:bodyPr/>
                    <a:lstStyle/>
                    <a:p>
                      <a:pPr indent="0" lvl="0" marL="0" marR="0" rtl="0" algn="l">
                        <a:spcBef>
                          <a:spcPts val="0"/>
                        </a:spcBef>
                        <a:spcAft>
                          <a:spcPts val="0"/>
                        </a:spcAft>
                        <a:buClr>
                          <a:srgbClr val="1E2761"/>
                        </a:buClr>
                        <a:buSzPts val="1250"/>
                        <a:buFont typeface="Calibri"/>
                        <a:buNone/>
                      </a:pPr>
                      <a:r>
                        <a:rPr lang="en-US" sz="1550" u="none" cap="none" strike="noStrike">
                          <a:solidFill>
                            <a:srgbClr val="1E2761"/>
                          </a:solidFill>
                          <a:latin typeface="Calibri"/>
                          <a:ea typeface="Calibri"/>
                          <a:cs typeface="Calibri"/>
                          <a:sym typeface="Calibri"/>
                        </a:rPr>
                        <a:t>Workflow platform</a:t>
                      </a:r>
                      <a:endParaRPr sz="1550" u="none" cap="none" strike="noStrike">
                        <a:latin typeface="Calibri"/>
                        <a:ea typeface="Calibri"/>
                        <a:cs typeface="Calibri"/>
                        <a:sym typeface="Calibri"/>
                      </a:endParaRPr>
                    </a:p>
                  </a:txBody>
                  <a:tcPr marT="45725" marB="45725" marR="91450" marL="91450" anchor="ctr">
                    <a:lnL cap="flat" cmpd="sng" w="12700">
                      <a:solidFill>
                        <a:srgbClr val="DCE3F0"/>
                      </a:solidFill>
                      <a:prstDash val="solid"/>
                      <a:round/>
                      <a:headEnd len="sm" w="sm" type="none"/>
                      <a:tailEnd len="sm" w="sm" type="none"/>
                    </a:lnL>
                    <a:lnR cap="flat" cmpd="sng" w="12700">
                      <a:solidFill>
                        <a:srgbClr val="DCE3F0"/>
                      </a:solidFill>
                      <a:prstDash val="solid"/>
                      <a:round/>
                      <a:headEnd len="sm" w="sm" type="none"/>
                      <a:tailEnd len="sm" w="sm" type="none"/>
                    </a:lnR>
                    <a:lnT cap="flat" cmpd="sng" w="12700">
                      <a:solidFill>
                        <a:srgbClr val="DCE3F0"/>
                      </a:solidFill>
                      <a:prstDash val="solid"/>
                      <a:round/>
                      <a:headEnd len="sm" w="sm" type="none"/>
                      <a:tailEnd len="sm" w="sm" type="none"/>
                    </a:lnT>
                    <a:lnB cap="flat" cmpd="sng" w="12700">
                      <a:solidFill>
                        <a:srgbClr val="DCE3F0"/>
                      </a:solidFill>
                      <a:prstDash val="solid"/>
                      <a:round/>
                      <a:headEnd len="sm" w="sm" type="none"/>
                      <a:tailEnd len="sm" w="sm" type="none"/>
                    </a:lnB>
                  </a:tcPr>
                </a:tc>
                <a:tc>
                  <a:txBody>
                    <a:bodyPr/>
                    <a:lstStyle/>
                    <a:p>
                      <a:pPr indent="0" lvl="0" marL="0" marR="0" rtl="0" algn="l">
                        <a:spcBef>
                          <a:spcPts val="0"/>
                        </a:spcBef>
                        <a:spcAft>
                          <a:spcPts val="0"/>
                        </a:spcAft>
                        <a:buClr>
                          <a:srgbClr val="1E2761"/>
                        </a:buClr>
                        <a:buSzPts val="1250"/>
                        <a:buFont typeface="Calibri"/>
                        <a:buNone/>
                      </a:pPr>
                      <a:r>
                        <a:rPr lang="en-US" sz="1550" u="none" cap="none" strike="noStrike">
                          <a:solidFill>
                            <a:srgbClr val="1E2761"/>
                          </a:solidFill>
                          <a:latin typeface="Calibri"/>
                          <a:ea typeface="Calibri"/>
                          <a:cs typeface="Calibri"/>
                          <a:sym typeface="Calibri"/>
                        </a:rPr>
                        <a:t>n8n</a:t>
                      </a:r>
                      <a:endParaRPr sz="1550" u="none" cap="none" strike="noStrike">
                        <a:latin typeface="Calibri"/>
                        <a:ea typeface="Calibri"/>
                        <a:cs typeface="Calibri"/>
                        <a:sym typeface="Calibri"/>
                      </a:endParaRPr>
                    </a:p>
                  </a:txBody>
                  <a:tcPr marT="45725" marB="45725" marR="91450" marL="91450" anchor="ctr">
                    <a:lnL cap="flat" cmpd="sng" w="12700">
                      <a:solidFill>
                        <a:srgbClr val="DCE3F0"/>
                      </a:solidFill>
                      <a:prstDash val="solid"/>
                      <a:round/>
                      <a:headEnd len="sm" w="sm" type="none"/>
                      <a:tailEnd len="sm" w="sm" type="none"/>
                    </a:lnL>
                    <a:lnR cap="flat" cmpd="sng" w="12700">
                      <a:solidFill>
                        <a:srgbClr val="DCE3F0"/>
                      </a:solidFill>
                      <a:prstDash val="solid"/>
                      <a:round/>
                      <a:headEnd len="sm" w="sm" type="none"/>
                      <a:tailEnd len="sm" w="sm" type="none"/>
                    </a:lnR>
                    <a:lnT cap="flat" cmpd="sng" w="12700">
                      <a:solidFill>
                        <a:srgbClr val="DCE3F0"/>
                      </a:solidFill>
                      <a:prstDash val="solid"/>
                      <a:round/>
                      <a:headEnd len="sm" w="sm" type="none"/>
                      <a:tailEnd len="sm" w="sm" type="none"/>
                    </a:lnT>
                    <a:lnB cap="flat" cmpd="sng" w="12700">
                      <a:solidFill>
                        <a:srgbClr val="DCE3F0"/>
                      </a:solidFill>
                      <a:prstDash val="solid"/>
                      <a:round/>
                      <a:headEnd len="sm" w="sm" type="none"/>
                      <a:tailEnd len="sm" w="sm" type="none"/>
                    </a:lnB>
                  </a:tcPr>
                </a:tc>
                <a:tc>
                  <a:txBody>
                    <a:bodyPr/>
                    <a:lstStyle/>
                    <a:p>
                      <a:pPr indent="0" lvl="0" marL="0" marR="0" rtl="0" algn="l">
                        <a:spcBef>
                          <a:spcPts val="0"/>
                        </a:spcBef>
                        <a:spcAft>
                          <a:spcPts val="0"/>
                        </a:spcAft>
                        <a:buClr>
                          <a:srgbClr val="1E2761"/>
                        </a:buClr>
                        <a:buSzPts val="1250"/>
                        <a:buFont typeface="Calibri"/>
                        <a:buNone/>
                      </a:pPr>
                      <a:r>
                        <a:rPr lang="en-US" sz="1550" u="none" cap="none" strike="noStrike">
                          <a:solidFill>
                            <a:srgbClr val="1E2761"/>
                          </a:solidFill>
                          <a:latin typeface="Calibri"/>
                          <a:ea typeface="Calibri"/>
                          <a:cs typeface="Calibri"/>
                          <a:sym typeface="Calibri"/>
                        </a:rPr>
                        <a:t>Interview Kickstart provided an n8n account with extra workflow credits already available — access-driven switch from the originally planned LangFlow, not a technical downgrade</a:t>
                      </a:r>
                      <a:endParaRPr sz="1550" u="none" cap="none" strike="noStrike">
                        <a:latin typeface="Calibri"/>
                        <a:ea typeface="Calibri"/>
                        <a:cs typeface="Calibri"/>
                        <a:sym typeface="Calibri"/>
                      </a:endParaRPr>
                    </a:p>
                  </a:txBody>
                  <a:tcPr marT="45725" marB="45725" marR="91450" marL="91450" anchor="ctr">
                    <a:lnL cap="flat" cmpd="sng" w="12700">
                      <a:solidFill>
                        <a:srgbClr val="DCE3F0"/>
                      </a:solidFill>
                      <a:prstDash val="solid"/>
                      <a:round/>
                      <a:headEnd len="sm" w="sm" type="none"/>
                      <a:tailEnd len="sm" w="sm" type="none"/>
                    </a:lnL>
                    <a:lnR cap="flat" cmpd="sng" w="12700">
                      <a:solidFill>
                        <a:srgbClr val="DCE3F0"/>
                      </a:solidFill>
                      <a:prstDash val="solid"/>
                      <a:round/>
                      <a:headEnd len="sm" w="sm" type="none"/>
                      <a:tailEnd len="sm" w="sm" type="none"/>
                    </a:lnR>
                    <a:lnT cap="flat" cmpd="sng" w="12700">
                      <a:solidFill>
                        <a:srgbClr val="DCE3F0"/>
                      </a:solidFill>
                      <a:prstDash val="solid"/>
                      <a:round/>
                      <a:headEnd len="sm" w="sm" type="none"/>
                      <a:tailEnd len="sm" w="sm" type="none"/>
                    </a:lnT>
                    <a:lnB cap="flat" cmpd="sng" w="12700">
                      <a:solidFill>
                        <a:srgbClr val="DCE3F0"/>
                      </a:solidFill>
                      <a:prstDash val="solid"/>
                      <a:round/>
                      <a:headEnd len="sm" w="sm" type="none"/>
                      <a:tailEnd len="sm" w="sm" type="none"/>
                    </a:lnB>
                  </a:tcPr>
                </a:tc>
              </a:tr>
              <a:tr h="868675">
                <a:tc>
                  <a:txBody>
                    <a:bodyPr/>
                    <a:lstStyle/>
                    <a:p>
                      <a:pPr indent="0" lvl="0" marL="0" marR="0" rtl="0" algn="l">
                        <a:spcBef>
                          <a:spcPts val="0"/>
                        </a:spcBef>
                        <a:spcAft>
                          <a:spcPts val="0"/>
                        </a:spcAft>
                        <a:buClr>
                          <a:srgbClr val="1E2761"/>
                        </a:buClr>
                        <a:buSzPts val="1250"/>
                        <a:buFont typeface="Calibri"/>
                        <a:buNone/>
                      </a:pPr>
                      <a:r>
                        <a:rPr lang="en-US" sz="1550" u="none" cap="none" strike="noStrike">
                          <a:solidFill>
                            <a:srgbClr val="1E2761"/>
                          </a:solidFill>
                          <a:latin typeface="Calibri"/>
                          <a:ea typeface="Calibri"/>
                          <a:cs typeface="Calibri"/>
                          <a:sym typeface="Calibri"/>
                        </a:rPr>
                        <a:t>Extractor / Gap Analyzer LLM</a:t>
                      </a:r>
                      <a:endParaRPr sz="1550" u="none" cap="none" strike="noStrike">
                        <a:latin typeface="Calibri"/>
                        <a:ea typeface="Calibri"/>
                        <a:cs typeface="Calibri"/>
                        <a:sym typeface="Calibri"/>
                      </a:endParaRPr>
                    </a:p>
                  </a:txBody>
                  <a:tcPr marT="45725" marB="45725" marR="91450" marL="91450" anchor="ctr">
                    <a:lnL cap="flat" cmpd="sng" w="12700">
                      <a:solidFill>
                        <a:srgbClr val="DCE3F0"/>
                      </a:solidFill>
                      <a:prstDash val="solid"/>
                      <a:round/>
                      <a:headEnd len="sm" w="sm" type="none"/>
                      <a:tailEnd len="sm" w="sm" type="none"/>
                    </a:lnL>
                    <a:lnR cap="flat" cmpd="sng" w="12700">
                      <a:solidFill>
                        <a:srgbClr val="DCE3F0"/>
                      </a:solidFill>
                      <a:prstDash val="solid"/>
                      <a:round/>
                      <a:headEnd len="sm" w="sm" type="none"/>
                      <a:tailEnd len="sm" w="sm" type="none"/>
                    </a:lnR>
                    <a:lnT cap="flat" cmpd="sng" w="12700">
                      <a:solidFill>
                        <a:srgbClr val="DCE3F0"/>
                      </a:solidFill>
                      <a:prstDash val="solid"/>
                      <a:round/>
                      <a:headEnd len="sm" w="sm" type="none"/>
                      <a:tailEnd len="sm" w="sm" type="none"/>
                    </a:lnT>
                    <a:lnB cap="flat" cmpd="sng" w="12700">
                      <a:solidFill>
                        <a:srgbClr val="DCE3F0"/>
                      </a:solidFill>
                      <a:prstDash val="solid"/>
                      <a:round/>
                      <a:headEnd len="sm" w="sm" type="none"/>
                      <a:tailEnd len="sm" w="sm" type="none"/>
                    </a:lnB>
                  </a:tcPr>
                </a:tc>
                <a:tc>
                  <a:txBody>
                    <a:bodyPr/>
                    <a:lstStyle/>
                    <a:p>
                      <a:pPr indent="0" lvl="0" marL="0" marR="0" rtl="0" algn="l">
                        <a:spcBef>
                          <a:spcPts val="0"/>
                        </a:spcBef>
                        <a:spcAft>
                          <a:spcPts val="0"/>
                        </a:spcAft>
                        <a:buClr>
                          <a:srgbClr val="1E2761"/>
                        </a:buClr>
                        <a:buSzPts val="1250"/>
                        <a:buFont typeface="Calibri"/>
                        <a:buNone/>
                      </a:pPr>
                      <a:r>
                        <a:rPr lang="en-US" sz="1550" u="none" cap="none" strike="noStrike">
                          <a:solidFill>
                            <a:srgbClr val="1E2761"/>
                          </a:solidFill>
                          <a:latin typeface="Calibri"/>
                          <a:ea typeface="Calibri"/>
                          <a:cs typeface="Calibri"/>
                          <a:sym typeface="Calibri"/>
                        </a:rPr>
                        <a:t>Claude / GPT-4o (full tier)</a:t>
                      </a:r>
                      <a:endParaRPr sz="1550" u="none" cap="none" strike="noStrike">
                        <a:latin typeface="Calibri"/>
                        <a:ea typeface="Calibri"/>
                        <a:cs typeface="Calibri"/>
                        <a:sym typeface="Calibri"/>
                      </a:endParaRPr>
                    </a:p>
                  </a:txBody>
                  <a:tcPr marT="45725" marB="45725" marR="91450" marL="91450" anchor="ctr">
                    <a:lnL cap="flat" cmpd="sng" w="12700">
                      <a:solidFill>
                        <a:srgbClr val="DCE3F0"/>
                      </a:solidFill>
                      <a:prstDash val="solid"/>
                      <a:round/>
                      <a:headEnd len="sm" w="sm" type="none"/>
                      <a:tailEnd len="sm" w="sm" type="none"/>
                    </a:lnL>
                    <a:lnR cap="flat" cmpd="sng" w="12700">
                      <a:solidFill>
                        <a:srgbClr val="DCE3F0"/>
                      </a:solidFill>
                      <a:prstDash val="solid"/>
                      <a:round/>
                      <a:headEnd len="sm" w="sm" type="none"/>
                      <a:tailEnd len="sm" w="sm" type="none"/>
                    </a:lnR>
                    <a:lnT cap="flat" cmpd="sng" w="12700">
                      <a:solidFill>
                        <a:srgbClr val="DCE3F0"/>
                      </a:solidFill>
                      <a:prstDash val="solid"/>
                      <a:round/>
                      <a:headEnd len="sm" w="sm" type="none"/>
                      <a:tailEnd len="sm" w="sm" type="none"/>
                    </a:lnT>
                    <a:lnB cap="flat" cmpd="sng" w="12700">
                      <a:solidFill>
                        <a:srgbClr val="DCE3F0"/>
                      </a:solidFill>
                      <a:prstDash val="solid"/>
                      <a:round/>
                      <a:headEnd len="sm" w="sm" type="none"/>
                      <a:tailEnd len="sm" w="sm" type="none"/>
                    </a:lnB>
                  </a:tcPr>
                </a:tc>
                <a:tc>
                  <a:txBody>
                    <a:bodyPr/>
                    <a:lstStyle/>
                    <a:p>
                      <a:pPr indent="0" lvl="0" marL="0" marR="0" rtl="0" algn="l">
                        <a:spcBef>
                          <a:spcPts val="0"/>
                        </a:spcBef>
                        <a:spcAft>
                          <a:spcPts val="0"/>
                        </a:spcAft>
                        <a:buClr>
                          <a:srgbClr val="1E2761"/>
                        </a:buClr>
                        <a:buSzPts val="1250"/>
                        <a:buFont typeface="Calibri"/>
                        <a:buNone/>
                      </a:pPr>
                      <a:r>
                        <a:rPr lang="en-US" sz="1550" u="none" cap="none" strike="noStrike">
                          <a:solidFill>
                            <a:srgbClr val="1E2761"/>
                          </a:solidFill>
                          <a:latin typeface="Calibri"/>
                          <a:ea typeface="Calibri"/>
                          <a:cs typeface="Calibri"/>
                          <a:sym typeface="Calibri"/>
                        </a:rPr>
                        <a:t>Highest-stakes reasoning — graded directly on 6 of 12 baseline tests</a:t>
                      </a:r>
                      <a:endParaRPr sz="1550" u="none" cap="none" strike="noStrike">
                        <a:latin typeface="Calibri"/>
                        <a:ea typeface="Calibri"/>
                        <a:cs typeface="Calibri"/>
                        <a:sym typeface="Calibri"/>
                      </a:endParaRPr>
                    </a:p>
                  </a:txBody>
                  <a:tcPr marT="45725" marB="45725" marR="91450" marL="91450" anchor="ctr">
                    <a:lnL cap="flat" cmpd="sng" w="12700">
                      <a:solidFill>
                        <a:srgbClr val="DCE3F0"/>
                      </a:solidFill>
                      <a:prstDash val="solid"/>
                      <a:round/>
                      <a:headEnd len="sm" w="sm" type="none"/>
                      <a:tailEnd len="sm" w="sm" type="none"/>
                    </a:lnL>
                    <a:lnR cap="flat" cmpd="sng" w="12700">
                      <a:solidFill>
                        <a:srgbClr val="DCE3F0"/>
                      </a:solidFill>
                      <a:prstDash val="solid"/>
                      <a:round/>
                      <a:headEnd len="sm" w="sm" type="none"/>
                      <a:tailEnd len="sm" w="sm" type="none"/>
                    </a:lnR>
                    <a:lnT cap="flat" cmpd="sng" w="12700">
                      <a:solidFill>
                        <a:srgbClr val="DCE3F0"/>
                      </a:solidFill>
                      <a:prstDash val="solid"/>
                      <a:round/>
                      <a:headEnd len="sm" w="sm" type="none"/>
                      <a:tailEnd len="sm" w="sm" type="none"/>
                    </a:lnT>
                    <a:lnB cap="flat" cmpd="sng" w="12700">
                      <a:solidFill>
                        <a:srgbClr val="DCE3F0"/>
                      </a:solidFill>
                      <a:prstDash val="solid"/>
                      <a:round/>
                      <a:headEnd len="sm" w="sm" type="none"/>
                      <a:tailEnd len="sm" w="sm" type="none"/>
                    </a:lnB>
                  </a:tcPr>
                </a:tc>
              </a:tr>
              <a:tr h="868675">
                <a:tc>
                  <a:txBody>
                    <a:bodyPr/>
                    <a:lstStyle/>
                    <a:p>
                      <a:pPr indent="0" lvl="0" marL="0" marR="0" rtl="0" algn="l">
                        <a:spcBef>
                          <a:spcPts val="0"/>
                        </a:spcBef>
                        <a:spcAft>
                          <a:spcPts val="0"/>
                        </a:spcAft>
                        <a:buClr>
                          <a:srgbClr val="1E2761"/>
                        </a:buClr>
                        <a:buSzPts val="1250"/>
                        <a:buFont typeface="Calibri"/>
                        <a:buNone/>
                      </a:pPr>
                      <a:r>
                        <a:rPr lang="en-US" sz="1550" u="none" cap="none" strike="noStrike">
                          <a:solidFill>
                            <a:srgbClr val="1E2761"/>
                          </a:solidFill>
                          <a:latin typeface="Calibri"/>
                          <a:ea typeface="Calibri"/>
                          <a:cs typeface="Calibri"/>
                          <a:sym typeface="Calibri"/>
                        </a:rPr>
                        <a:t>PRD Generator / Story Breakdown LLM</a:t>
                      </a:r>
                      <a:endParaRPr sz="1550" u="none" cap="none" strike="noStrike">
                        <a:latin typeface="Calibri"/>
                        <a:ea typeface="Calibri"/>
                        <a:cs typeface="Calibri"/>
                        <a:sym typeface="Calibri"/>
                      </a:endParaRPr>
                    </a:p>
                  </a:txBody>
                  <a:tcPr marT="45725" marB="45725" marR="91450" marL="91450" anchor="ctr">
                    <a:lnL cap="flat" cmpd="sng" w="12700">
                      <a:solidFill>
                        <a:srgbClr val="DCE3F0"/>
                      </a:solidFill>
                      <a:prstDash val="solid"/>
                      <a:round/>
                      <a:headEnd len="sm" w="sm" type="none"/>
                      <a:tailEnd len="sm" w="sm" type="none"/>
                    </a:lnL>
                    <a:lnR cap="flat" cmpd="sng" w="12700">
                      <a:solidFill>
                        <a:srgbClr val="DCE3F0"/>
                      </a:solidFill>
                      <a:prstDash val="solid"/>
                      <a:round/>
                      <a:headEnd len="sm" w="sm" type="none"/>
                      <a:tailEnd len="sm" w="sm" type="none"/>
                    </a:lnR>
                    <a:lnT cap="flat" cmpd="sng" w="12700">
                      <a:solidFill>
                        <a:srgbClr val="DCE3F0"/>
                      </a:solidFill>
                      <a:prstDash val="solid"/>
                      <a:round/>
                      <a:headEnd len="sm" w="sm" type="none"/>
                      <a:tailEnd len="sm" w="sm" type="none"/>
                    </a:lnT>
                    <a:lnB cap="flat" cmpd="sng" w="12700">
                      <a:solidFill>
                        <a:srgbClr val="DCE3F0"/>
                      </a:solidFill>
                      <a:prstDash val="solid"/>
                      <a:round/>
                      <a:headEnd len="sm" w="sm" type="none"/>
                      <a:tailEnd len="sm" w="sm" type="none"/>
                    </a:lnB>
                  </a:tcPr>
                </a:tc>
                <a:tc>
                  <a:txBody>
                    <a:bodyPr/>
                    <a:lstStyle/>
                    <a:p>
                      <a:pPr indent="0" lvl="0" marL="0" marR="0" rtl="0" algn="l">
                        <a:spcBef>
                          <a:spcPts val="0"/>
                        </a:spcBef>
                        <a:spcAft>
                          <a:spcPts val="0"/>
                        </a:spcAft>
                        <a:buClr>
                          <a:srgbClr val="1E2761"/>
                        </a:buClr>
                        <a:buSzPts val="1250"/>
                        <a:buFont typeface="Calibri"/>
                        <a:buNone/>
                      </a:pPr>
                      <a:r>
                        <a:rPr lang="en-US" sz="1550" u="none" cap="none" strike="noStrike">
                          <a:solidFill>
                            <a:srgbClr val="1E2761"/>
                          </a:solidFill>
                          <a:latin typeface="Calibri"/>
                          <a:ea typeface="Calibri"/>
                          <a:cs typeface="Calibri"/>
                          <a:sym typeface="Calibri"/>
                        </a:rPr>
                        <a:t>GPT-4o-mini</a:t>
                      </a:r>
                      <a:endParaRPr sz="1550" u="none" cap="none" strike="noStrike">
                        <a:latin typeface="Calibri"/>
                        <a:ea typeface="Calibri"/>
                        <a:cs typeface="Calibri"/>
                        <a:sym typeface="Calibri"/>
                      </a:endParaRPr>
                    </a:p>
                  </a:txBody>
                  <a:tcPr marT="45725" marB="45725" marR="91450" marL="91450" anchor="ctr">
                    <a:lnL cap="flat" cmpd="sng" w="12700">
                      <a:solidFill>
                        <a:srgbClr val="DCE3F0"/>
                      </a:solidFill>
                      <a:prstDash val="solid"/>
                      <a:round/>
                      <a:headEnd len="sm" w="sm" type="none"/>
                      <a:tailEnd len="sm" w="sm" type="none"/>
                    </a:lnL>
                    <a:lnR cap="flat" cmpd="sng" w="12700">
                      <a:solidFill>
                        <a:srgbClr val="DCE3F0"/>
                      </a:solidFill>
                      <a:prstDash val="solid"/>
                      <a:round/>
                      <a:headEnd len="sm" w="sm" type="none"/>
                      <a:tailEnd len="sm" w="sm" type="none"/>
                    </a:lnR>
                    <a:lnT cap="flat" cmpd="sng" w="12700">
                      <a:solidFill>
                        <a:srgbClr val="DCE3F0"/>
                      </a:solidFill>
                      <a:prstDash val="solid"/>
                      <a:round/>
                      <a:headEnd len="sm" w="sm" type="none"/>
                      <a:tailEnd len="sm" w="sm" type="none"/>
                    </a:lnT>
                    <a:lnB cap="flat" cmpd="sng" w="12700">
                      <a:solidFill>
                        <a:srgbClr val="DCE3F0"/>
                      </a:solidFill>
                      <a:prstDash val="solid"/>
                      <a:round/>
                      <a:headEnd len="sm" w="sm" type="none"/>
                      <a:tailEnd len="sm" w="sm" type="none"/>
                    </a:lnB>
                  </a:tcPr>
                </a:tc>
                <a:tc>
                  <a:txBody>
                    <a:bodyPr/>
                    <a:lstStyle/>
                    <a:p>
                      <a:pPr indent="0" lvl="0" marL="0" marR="0" rtl="0" algn="l">
                        <a:spcBef>
                          <a:spcPts val="0"/>
                        </a:spcBef>
                        <a:spcAft>
                          <a:spcPts val="0"/>
                        </a:spcAft>
                        <a:buClr>
                          <a:srgbClr val="1E2761"/>
                        </a:buClr>
                        <a:buSzPts val="1250"/>
                        <a:buFont typeface="Calibri"/>
                        <a:buNone/>
                      </a:pPr>
                      <a:r>
                        <a:rPr lang="en-US" sz="1550" u="none" cap="none" strike="noStrike">
                          <a:solidFill>
                            <a:srgbClr val="1E2761"/>
                          </a:solidFill>
                          <a:latin typeface="Calibri"/>
                          <a:ea typeface="Calibri"/>
                          <a:cs typeface="Calibri"/>
                          <a:sym typeface="Calibri"/>
                        </a:rPr>
                        <a:t>Mechanical restructuring of already-grounded data — low judgment risk</a:t>
                      </a:r>
                      <a:endParaRPr sz="1550" u="none" cap="none" strike="noStrike">
                        <a:latin typeface="Calibri"/>
                        <a:ea typeface="Calibri"/>
                        <a:cs typeface="Calibri"/>
                        <a:sym typeface="Calibri"/>
                      </a:endParaRPr>
                    </a:p>
                  </a:txBody>
                  <a:tcPr marT="45725" marB="45725" marR="91450" marL="91450" anchor="ctr">
                    <a:lnL cap="flat" cmpd="sng" w="12700">
                      <a:solidFill>
                        <a:srgbClr val="DCE3F0"/>
                      </a:solidFill>
                      <a:prstDash val="solid"/>
                      <a:round/>
                      <a:headEnd len="sm" w="sm" type="none"/>
                      <a:tailEnd len="sm" w="sm" type="none"/>
                    </a:lnL>
                    <a:lnR cap="flat" cmpd="sng" w="12700">
                      <a:solidFill>
                        <a:srgbClr val="DCE3F0"/>
                      </a:solidFill>
                      <a:prstDash val="solid"/>
                      <a:round/>
                      <a:headEnd len="sm" w="sm" type="none"/>
                      <a:tailEnd len="sm" w="sm" type="none"/>
                    </a:lnR>
                    <a:lnT cap="flat" cmpd="sng" w="12700">
                      <a:solidFill>
                        <a:srgbClr val="DCE3F0"/>
                      </a:solidFill>
                      <a:prstDash val="solid"/>
                      <a:round/>
                      <a:headEnd len="sm" w="sm" type="none"/>
                      <a:tailEnd len="sm" w="sm" type="none"/>
                    </a:lnT>
                    <a:lnB cap="flat" cmpd="sng" w="12700">
                      <a:solidFill>
                        <a:srgbClr val="DCE3F0"/>
                      </a:solidFill>
                      <a:prstDash val="solid"/>
                      <a:round/>
                      <a:headEnd len="sm" w="sm" type="none"/>
                      <a:tailEnd len="sm" w="sm" type="none"/>
                    </a:lnB>
                  </a:tcPr>
                </a:tc>
              </a:tr>
              <a:tr h="868675">
                <a:tc>
                  <a:txBody>
                    <a:bodyPr/>
                    <a:lstStyle/>
                    <a:p>
                      <a:pPr indent="0" lvl="0" marL="0" marR="0" rtl="0" algn="l">
                        <a:spcBef>
                          <a:spcPts val="0"/>
                        </a:spcBef>
                        <a:spcAft>
                          <a:spcPts val="0"/>
                        </a:spcAft>
                        <a:buClr>
                          <a:srgbClr val="1E2761"/>
                        </a:buClr>
                        <a:buSzPts val="1250"/>
                        <a:buFont typeface="Calibri"/>
                        <a:buNone/>
                      </a:pPr>
                      <a:r>
                        <a:rPr lang="en-US" sz="1550" u="none" cap="none" strike="noStrike">
                          <a:solidFill>
                            <a:srgbClr val="1E2761"/>
                          </a:solidFill>
                          <a:latin typeface="Calibri"/>
                          <a:ea typeface="Calibri"/>
                          <a:cs typeface="Calibri"/>
                          <a:sym typeface="Calibri"/>
                        </a:rPr>
                        <a:t>Observability</a:t>
                      </a:r>
                      <a:endParaRPr sz="1550" u="none" cap="none" strike="noStrike">
                        <a:latin typeface="Calibri"/>
                        <a:ea typeface="Calibri"/>
                        <a:cs typeface="Calibri"/>
                        <a:sym typeface="Calibri"/>
                      </a:endParaRPr>
                    </a:p>
                  </a:txBody>
                  <a:tcPr marT="45725" marB="45725" marR="91450" marL="91450" anchor="ctr">
                    <a:lnL cap="flat" cmpd="sng" w="12700">
                      <a:solidFill>
                        <a:srgbClr val="DCE3F0"/>
                      </a:solidFill>
                      <a:prstDash val="solid"/>
                      <a:round/>
                      <a:headEnd len="sm" w="sm" type="none"/>
                      <a:tailEnd len="sm" w="sm" type="none"/>
                    </a:lnL>
                    <a:lnR cap="flat" cmpd="sng" w="12700">
                      <a:solidFill>
                        <a:srgbClr val="DCE3F0"/>
                      </a:solidFill>
                      <a:prstDash val="solid"/>
                      <a:round/>
                      <a:headEnd len="sm" w="sm" type="none"/>
                      <a:tailEnd len="sm" w="sm" type="none"/>
                    </a:lnR>
                    <a:lnT cap="flat" cmpd="sng" w="12700">
                      <a:solidFill>
                        <a:srgbClr val="DCE3F0"/>
                      </a:solidFill>
                      <a:prstDash val="solid"/>
                      <a:round/>
                      <a:headEnd len="sm" w="sm" type="none"/>
                      <a:tailEnd len="sm" w="sm" type="none"/>
                    </a:lnT>
                    <a:lnB cap="flat" cmpd="sng" w="12700">
                      <a:solidFill>
                        <a:srgbClr val="DCE3F0"/>
                      </a:solidFill>
                      <a:prstDash val="solid"/>
                      <a:round/>
                      <a:headEnd len="sm" w="sm" type="none"/>
                      <a:tailEnd len="sm" w="sm" type="none"/>
                    </a:lnB>
                  </a:tcPr>
                </a:tc>
                <a:tc>
                  <a:txBody>
                    <a:bodyPr/>
                    <a:lstStyle/>
                    <a:p>
                      <a:pPr indent="0" lvl="0" marL="0" marR="0" rtl="0" algn="l">
                        <a:spcBef>
                          <a:spcPts val="0"/>
                        </a:spcBef>
                        <a:spcAft>
                          <a:spcPts val="0"/>
                        </a:spcAft>
                        <a:buClr>
                          <a:srgbClr val="1E2761"/>
                        </a:buClr>
                        <a:buSzPts val="1250"/>
                        <a:buFont typeface="Calibri"/>
                        <a:buNone/>
                      </a:pPr>
                      <a:r>
                        <a:rPr lang="en-US" sz="1550" u="none" cap="none" strike="noStrike">
                          <a:solidFill>
                            <a:srgbClr val="1E2761"/>
                          </a:solidFill>
                          <a:latin typeface="Calibri"/>
                          <a:ea typeface="Calibri"/>
                          <a:cs typeface="Calibri"/>
                          <a:sym typeface="Calibri"/>
                        </a:rPr>
                        <a:t>Langfuse</a:t>
                      </a:r>
                      <a:endParaRPr sz="1550" u="none" cap="none" strike="noStrike">
                        <a:latin typeface="Calibri"/>
                        <a:ea typeface="Calibri"/>
                        <a:cs typeface="Calibri"/>
                        <a:sym typeface="Calibri"/>
                      </a:endParaRPr>
                    </a:p>
                  </a:txBody>
                  <a:tcPr marT="45725" marB="45725" marR="91450" marL="91450" anchor="ctr">
                    <a:lnL cap="flat" cmpd="sng" w="12700">
                      <a:solidFill>
                        <a:srgbClr val="DCE3F0"/>
                      </a:solidFill>
                      <a:prstDash val="solid"/>
                      <a:round/>
                      <a:headEnd len="sm" w="sm" type="none"/>
                      <a:tailEnd len="sm" w="sm" type="none"/>
                    </a:lnL>
                    <a:lnR cap="flat" cmpd="sng" w="12700">
                      <a:solidFill>
                        <a:srgbClr val="DCE3F0"/>
                      </a:solidFill>
                      <a:prstDash val="solid"/>
                      <a:round/>
                      <a:headEnd len="sm" w="sm" type="none"/>
                      <a:tailEnd len="sm" w="sm" type="none"/>
                    </a:lnR>
                    <a:lnT cap="flat" cmpd="sng" w="12700">
                      <a:solidFill>
                        <a:srgbClr val="DCE3F0"/>
                      </a:solidFill>
                      <a:prstDash val="solid"/>
                      <a:round/>
                      <a:headEnd len="sm" w="sm" type="none"/>
                      <a:tailEnd len="sm" w="sm" type="none"/>
                    </a:lnT>
                    <a:lnB cap="flat" cmpd="sng" w="12700">
                      <a:solidFill>
                        <a:srgbClr val="DCE3F0"/>
                      </a:solidFill>
                      <a:prstDash val="solid"/>
                      <a:round/>
                      <a:headEnd len="sm" w="sm" type="none"/>
                      <a:tailEnd len="sm" w="sm" type="none"/>
                    </a:lnB>
                  </a:tcPr>
                </a:tc>
                <a:tc>
                  <a:txBody>
                    <a:bodyPr/>
                    <a:lstStyle/>
                    <a:p>
                      <a:pPr indent="0" lvl="0" marL="0" marR="0" rtl="0" algn="l">
                        <a:spcBef>
                          <a:spcPts val="0"/>
                        </a:spcBef>
                        <a:spcAft>
                          <a:spcPts val="0"/>
                        </a:spcAft>
                        <a:buClr>
                          <a:srgbClr val="1E2761"/>
                        </a:buClr>
                        <a:buSzPts val="1250"/>
                        <a:buFont typeface="Calibri"/>
                        <a:buNone/>
                      </a:pPr>
                      <a:r>
                        <a:rPr lang="en-US" sz="1550" u="none" cap="none" strike="noStrike">
                          <a:solidFill>
                            <a:srgbClr val="1E2761"/>
                          </a:solidFill>
                          <a:latin typeface="Calibri"/>
                          <a:ea typeface="Calibri"/>
                          <a:cs typeface="Calibri"/>
                          <a:sym typeface="Calibri"/>
                        </a:rPr>
                        <a:t>Enables open/axial-coding failure analysis mapped to the dataset's own failure categories</a:t>
                      </a:r>
                      <a:endParaRPr sz="1550" u="none" cap="none" strike="noStrike">
                        <a:latin typeface="Calibri"/>
                        <a:ea typeface="Calibri"/>
                        <a:cs typeface="Calibri"/>
                        <a:sym typeface="Calibri"/>
                      </a:endParaRPr>
                    </a:p>
                  </a:txBody>
                  <a:tcPr marT="45725" marB="45725" marR="91450" marL="91450" anchor="ctr">
                    <a:lnL cap="flat" cmpd="sng" w="12700">
                      <a:solidFill>
                        <a:srgbClr val="DCE3F0"/>
                      </a:solidFill>
                      <a:prstDash val="solid"/>
                      <a:round/>
                      <a:headEnd len="sm" w="sm" type="none"/>
                      <a:tailEnd len="sm" w="sm" type="none"/>
                    </a:lnL>
                    <a:lnR cap="flat" cmpd="sng" w="12700">
                      <a:solidFill>
                        <a:srgbClr val="DCE3F0"/>
                      </a:solidFill>
                      <a:prstDash val="solid"/>
                      <a:round/>
                      <a:headEnd len="sm" w="sm" type="none"/>
                      <a:tailEnd len="sm" w="sm" type="none"/>
                    </a:lnR>
                    <a:lnT cap="flat" cmpd="sng" w="12700">
                      <a:solidFill>
                        <a:srgbClr val="DCE3F0"/>
                      </a:solidFill>
                      <a:prstDash val="solid"/>
                      <a:round/>
                      <a:headEnd len="sm" w="sm" type="none"/>
                      <a:tailEnd len="sm" w="sm" type="none"/>
                    </a:lnT>
                    <a:lnB cap="flat" cmpd="sng" w="12700">
                      <a:solidFill>
                        <a:srgbClr val="DCE3F0"/>
                      </a:solidFill>
                      <a:prstDash val="solid"/>
                      <a:round/>
                      <a:headEnd len="sm" w="sm" type="none"/>
                      <a:tailEnd len="sm" w="sm" type="none"/>
                    </a:lnB>
                  </a:tcPr>
                </a:tc>
              </a:tr>
            </a:tbl>
          </a:graphicData>
        </a:graphic>
      </p:graphicFrame>
      <p:sp>
        <p:nvSpPr>
          <p:cNvPr id="121" name="Google Shape;121;p5"/>
          <p:cNvSpPr txBox="1"/>
          <p:nvPr/>
        </p:nvSpPr>
        <p:spPr>
          <a:xfrm>
            <a:off x="548640" y="5852160"/>
            <a:ext cx="110642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7"/>
              </a:buClr>
              <a:buSzPts val="1200"/>
              <a:buFont typeface="Calibri"/>
              <a:buNone/>
            </a:pPr>
            <a:r>
              <a:rPr b="0" i="1" lang="en-US" sz="1200" u="none" cap="none" strike="noStrike">
                <a:solidFill>
                  <a:srgbClr val="5A6B87"/>
                </a:solidFill>
                <a:latin typeface="Calibri"/>
                <a:ea typeface="Calibri"/>
                <a:cs typeface="Calibri"/>
                <a:sym typeface="Calibri"/>
              </a:rPr>
              <a:t>Two of four agents run on the full-tier model, two on mini — cost stays down while reasoning budget goes where the baseline dataset actually tests judgment.</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E"/>
        </a:solidFill>
      </p:bgPr>
    </p:bg>
    <p:spTree>
      <p:nvGrpSpPr>
        <p:cNvPr id="126" name="Shape 126"/>
        <p:cNvGrpSpPr/>
        <p:nvPr/>
      </p:nvGrpSpPr>
      <p:grpSpPr>
        <a:xfrm>
          <a:off x="0" y="0"/>
          <a:ext cx="0" cy="0"/>
          <a:chOff x="0" y="0"/>
          <a:chExt cx="0" cy="0"/>
        </a:xfrm>
      </p:grpSpPr>
      <p:sp>
        <p:nvSpPr>
          <p:cNvPr id="127" name="Google Shape;127;p6"/>
          <p:cNvSpPr/>
          <p:nvPr/>
        </p:nvSpPr>
        <p:spPr>
          <a:xfrm>
            <a:off x="548640" y="457200"/>
            <a:ext cx="384048" cy="384048"/>
          </a:xfrm>
          <a:prstGeom prst="ellipse">
            <a:avLst/>
          </a:prstGeom>
          <a:solidFill>
            <a:srgbClr val="E457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6"/>
          <p:cNvSpPr txBox="1"/>
          <p:nvPr/>
        </p:nvSpPr>
        <p:spPr>
          <a:xfrm>
            <a:off x="548640" y="45720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129" name="Google Shape;129;p6"/>
          <p:cNvSpPr txBox="1"/>
          <p:nvPr/>
        </p:nvSpPr>
        <p:spPr>
          <a:xfrm>
            <a:off x="1042416" y="457200"/>
            <a:ext cx="54864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7"/>
              </a:buClr>
              <a:buSzPts val="1200"/>
              <a:buFont typeface="Calibri"/>
              <a:buNone/>
            </a:pPr>
            <a:r>
              <a:rPr b="1" i="0" lang="en-US" sz="1200" u="none" cap="none" strike="noStrike">
                <a:solidFill>
                  <a:srgbClr val="5A6B87"/>
                </a:solidFill>
                <a:latin typeface="Calibri"/>
                <a:ea typeface="Calibri"/>
                <a:cs typeface="Calibri"/>
                <a:sym typeface="Calibri"/>
              </a:rPr>
              <a:t>PROMPT DESIGN</a:t>
            </a:r>
            <a:endParaRPr b="0" i="0" sz="1200" u="none" cap="none" strike="noStrike">
              <a:solidFill>
                <a:schemeClr val="dk1"/>
              </a:solidFill>
              <a:latin typeface="Calibri"/>
              <a:ea typeface="Calibri"/>
              <a:cs typeface="Calibri"/>
              <a:sym typeface="Calibri"/>
            </a:endParaRPr>
          </a:p>
        </p:txBody>
      </p:sp>
      <p:sp>
        <p:nvSpPr>
          <p:cNvPr id="130" name="Google Shape;130;p6"/>
          <p:cNvSpPr txBox="1"/>
          <p:nvPr/>
        </p:nvSpPr>
        <p:spPr>
          <a:xfrm>
            <a:off x="548640" y="914400"/>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800"/>
              <a:buFont typeface="Cambria"/>
              <a:buNone/>
            </a:pPr>
            <a:r>
              <a:rPr b="1" i="0" lang="en-US" sz="2800" u="none" cap="none" strike="noStrike">
                <a:solidFill>
                  <a:srgbClr val="1E2761"/>
                </a:solidFill>
                <a:latin typeface="Cambria"/>
                <a:ea typeface="Cambria"/>
                <a:cs typeface="Cambria"/>
                <a:sym typeface="Cambria"/>
              </a:rPr>
              <a:t>Every Agent Prompt Follows the Same Pattern</a:t>
            </a:r>
            <a:endParaRPr b="0" i="0" sz="2800" u="none" cap="none" strike="noStrike">
              <a:solidFill>
                <a:schemeClr val="dk1"/>
              </a:solidFill>
              <a:latin typeface="Calibri"/>
              <a:ea typeface="Calibri"/>
              <a:cs typeface="Calibri"/>
              <a:sym typeface="Calibri"/>
            </a:endParaRPr>
          </a:p>
        </p:txBody>
      </p:sp>
      <p:sp>
        <p:nvSpPr>
          <p:cNvPr id="131" name="Google Shape;131;p6"/>
          <p:cNvSpPr/>
          <p:nvPr/>
        </p:nvSpPr>
        <p:spPr>
          <a:xfrm>
            <a:off x="548640" y="1691640"/>
            <a:ext cx="1371600" cy="548640"/>
          </a:xfrm>
          <a:prstGeom prst="roundRect">
            <a:avLst>
              <a:gd fmla="val 13333"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6"/>
          <p:cNvSpPr txBox="1"/>
          <p:nvPr/>
        </p:nvSpPr>
        <p:spPr>
          <a:xfrm>
            <a:off x="548640" y="1691640"/>
            <a:ext cx="13716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ROLE</a:t>
            </a:r>
            <a:endParaRPr b="0" i="0" sz="1300" u="none" cap="none" strike="noStrike">
              <a:solidFill>
                <a:schemeClr val="dk1"/>
              </a:solidFill>
              <a:latin typeface="Calibri"/>
              <a:ea typeface="Calibri"/>
              <a:cs typeface="Calibri"/>
              <a:sym typeface="Calibri"/>
            </a:endParaRPr>
          </a:p>
        </p:txBody>
      </p:sp>
      <p:sp>
        <p:nvSpPr>
          <p:cNvPr id="133" name="Google Shape;133;p6"/>
          <p:cNvSpPr txBox="1"/>
          <p:nvPr/>
        </p:nvSpPr>
        <p:spPr>
          <a:xfrm>
            <a:off x="2103120" y="1691640"/>
            <a:ext cx="55778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0" i="0" lang="en-US" sz="1300" u="none" cap="none" strike="noStrike">
                <a:solidFill>
                  <a:srgbClr val="1E2761"/>
                </a:solidFill>
                <a:latin typeface="Calibri"/>
                <a:ea typeface="Calibri"/>
                <a:cs typeface="Calibri"/>
                <a:sym typeface="Calibri"/>
              </a:rPr>
              <a:t>One sentence describing exactly what this agent does</a:t>
            </a:r>
            <a:endParaRPr b="0" i="0" sz="1300" u="none" cap="none" strike="noStrike">
              <a:solidFill>
                <a:schemeClr val="dk1"/>
              </a:solidFill>
              <a:latin typeface="Calibri"/>
              <a:ea typeface="Calibri"/>
              <a:cs typeface="Calibri"/>
              <a:sym typeface="Calibri"/>
            </a:endParaRPr>
          </a:p>
        </p:txBody>
      </p:sp>
      <p:sp>
        <p:nvSpPr>
          <p:cNvPr id="134" name="Google Shape;134;p6"/>
          <p:cNvSpPr/>
          <p:nvPr/>
        </p:nvSpPr>
        <p:spPr>
          <a:xfrm>
            <a:off x="548640" y="2441448"/>
            <a:ext cx="1371600" cy="548640"/>
          </a:xfrm>
          <a:prstGeom prst="roundRect">
            <a:avLst>
              <a:gd fmla="val 13333"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6"/>
          <p:cNvSpPr txBox="1"/>
          <p:nvPr/>
        </p:nvSpPr>
        <p:spPr>
          <a:xfrm>
            <a:off x="548640" y="2441448"/>
            <a:ext cx="13716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INPUT</a:t>
            </a:r>
            <a:endParaRPr b="0" i="0" sz="1300" u="none" cap="none" strike="noStrike">
              <a:solidFill>
                <a:schemeClr val="dk1"/>
              </a:solidFill>
              <a:latin typeface="Calibri"/>
              <a:ea typeface="Calibri"/>
              <a:cs typeface="Calibri"/>
              <a:sym typeface="Calibri"/>
            </a:endParaRPr>
          </a:p>
        </p:txBody>
      </p:sp>
      <p:sp>
        <p:nvSpPr>
          <p:cNvPr id="136" name="Google Shape;136;p6"/>
          <p:cNvSpPr txBox="1"/>
          <p:nvPr/>
        </p:nvSpPr>
        <p:spPr>
          <a:xfrm>
            <a:off x="2103120" y="2441448"/>
            <a:ext cx="55778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0" i="0" lang="en-US" sz="1300" u="none" cap="none" strike="noStrike">
                <a:solidFill>
                  <a:srgbClr val="1E2761"/>
                </a:solidFill>
                <a:latin typeface="Calibri"/>
                <a:ea typeface="Calibri"/>
                <a:cs typeface="Calibri"/>
                <a:sym typeface="Calibri"/>
              </a:rPr>
              <a:t>What the agent receives — transcript, notes, or a prior agent's output</a:t>
            </a:r>
            <a:endParaRPr b="0" i="0" sz="1300" u="none" cap="none" strike="noStrike">
              <a:solidFill>
                <a:schemeClr val="dk1"/>
              </a:solidFill>
              <a:latin typeface="Calibri"/>
              <a:ea typeface="Calibri"/>
              <a:cs typeface="Calibri"/>
              <a:sym typeface="Calibri"/>
            </a:endParaRPr>
          </a:p>
        </p:txBody>
      </p:sp>
      <p:sp>
        <p:nvSpPr>
          <p:cNvPr id="137" name="Google Shape;137;p6"/>
          <p:cNvSpPr/>
          <p:nvPr/>
        </p:nvSpPr>
        <p:spPr>
          <a:xfrm>
            <a:off x="548640" y="3191256"/>
            <a:ext cx="1371600" cy="548640"/>
          </a:xfrm>
          <a:prstGeom prst="roundRect">
            <a:avLst>
              <a:gd fmla="val 13333"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6"/>
          <p:cNvSpPr txBox="1"/>
          <p:nvPr/>
        </p:nvSpPr>
        <p:spPr>
          <a:xfrm>
            <a:off x="548640" y="3191256"/>
            <a:ext cx="13716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OUTPUT</a:t>
            </a:r>
            <a:endParaRPr b="0" i="0" sz="1300" u="none" cap="none" strike="noStrike">
              <a:solidFill>
                <a:schemeClr val="dk1"/>
              </a:solidFill>
              <a:latin typeface="Calibri"/>
              <a:ea typeface="Calibri"/>
              <a:cs typeface="Calibri"/>
              <a:sym typeface="Calibri"/>
            </a:endParaRPr>
          </a:p>
        </p:txBody>
      </p:sp>
      <p:sp>
        <p:nvSpPr>
          <p:cNvPr id="139" name="Google Shape;139;p6"/>
          <p:cNvSpPr txBox="1"/>
          <p:nvPr/>
        </p:nvSpPr>
        <p:spPr>
          <a:xfrm>
            <a:off x="2103120" y="3191256"/>
            <a:ext cx="55778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0" i="0" lang="en-US" sz="1300" u="none" cap="none" strike="noStrike">
                <a:solidFill>
                  <a:srgbClr val="1E2761"/>
                </a:solidFill>
                <a:latin typeface="Calibri"/>
                <a:ea typeface="Calibri"/>
                <a:cs typeface="Calibri"/>
                <a:sym typeface="Calibri"/>
              </a:rPr>
              <a:t>Exact fields expected, in a fixed structure</a:t>
            </a:r>
            <a:endParaRPr b="0" i="0" sz="1300" u="none" cap="none" strike="noStrike">
              <a:solidFill>
                <a:schemeClr val="dk1"/>
              </a:solidFill>
              <a:latin typeface="Calibri"/>
              <a:ea typeface="Calibri"/>
              <a:cs typeface="Calibri"/>
              <a:sym typeface="Calibri"/>
            </a:endParaRPr>
          </a:p>
        </p:txBody>
      </p:sp>
      <p:sp>
        <p:nvSpPr>
          <p:cNvPr id="140" name="Google Shape;140;p6"/>
          <p:cNvSpPr/>
          <p:nvPr/>
        </p:nvSpPr>
        <p:spPr>
          <a:xfrm>
            <a:off x="548640" y="3941064"/>
            <a:ext cx="1371600" cy="548640"/>
          </a:xfrm>
          <a:prstGeom prst="roundRect">
            <a:avLst>
              <a:gd fmla="val 13333"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6"/>
          <p:cNvSpPr txBox="1"/>
          <p:nvPr/>
        </p:nvSpPr>
        <p:spPr>
          <a:xfrm>
            <a:off x="548640" y="3941064"/>
            <a:ext cx="13716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RULES</a:t>
            </a:r>
            <a:endParaRPr b="0" i="0" sz="1300" u="none" cap="none" strike="noStrike">
              <a:solidFill>
                <a:schemeClr val="dk1"/>
              </a:solidFill>
              <a:latin typeface="Calibri"/>
              <a:ea typeface="Calibri"/>
              <a:cs typeface="Calibri"/>
              <a:sym typeface="Calibri"/>
            </a:endParaRPr>
          </a:p>
        </p:txBody>
      </p:sp>
      <p:sp>
        <p:nvSpPr>
          <p:cNvPr id="142" name="Google Shape;142;p6"/>
          <p:cNvSpPr txBox="1"/>
          <p:nvPr/>
        </p:nvSpPr>
        <p:spPr>
          <a:xfrm>
            <a:off x="2103120" y="3941064"/>
            <a:ext cx="55778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0" i="0" lang="en-US" sz="1300" u="none" cap="none" strike="noStrike">
                <a:solidFill>
                  <a:srgbClr val="1E2761"/>
                </a:solidFill>
                <a:latin typeface="Calibri"/>
                <a:ea typeface="Calibri"/>
                <a:cs typeface="Calibri"/>
                <a:sym typeface="Calibri"/>
              </a:rPr>
              <a:t>What the agent must NOT do — the hallucination guardrails</a:t>
            </a:r>
            <a:endParaRPr b="0" i="0" sz="1300" u="none" cap="none" strike="noStrike">
              <a:solidFill>
                <a:schemeClr val="dk1"/>
              </a:solidFill>
              <a:latin typeface="Calibri"/>
              <a:ea typeface="Calibri"/>
              <a:cs typeface="Calibri"/>
              <a:sym typeface="Calibri"/>
            </a:endParaRPr>
          </a:p>
        </p:txBody>
      </p:sp>
      <p:sp>
        <p:nvSpPr>
          <p:cNvPr id="143" name="Google Shape;143;p6"/>
          <p:cNvSpPr/>
          <p:nvPr/>
        </p:nvSpPr>
        <p:spPr>
          <a:xfrm>
            <a:off x="548640" y="4828032"/>
            <a:ext cx="7132320" cy="1417320"/>
          </a:xfrm>
          <a:prstGeom prst="roundRect">
            <a:avLst>
              <a:gd fmla="val 6452" name="adj"/>
            </a:avLst>
          </a:prstGeom>
          <a:solidFill>
            <a:srgbClr val="FCEEEA"/>
          </a:solidFill>
          <a:ln cap="flat" cmpd="sng" w="19050">
            <a:solidFill>
              <a:srgbClr val="E45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6"/>
          <p:cNvSpPr txBox="1"/>
          <p:nvPr/>
        </p:nvSpPr>
        <p:spPr>
          <a:xfrm>
            <a:off x="822960" y="4965192"/>
            <a:ext cx="6583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4572E"/>
              </a:buClr>
              <a:buSzPts val="1100"/>
              <a:buFont typeface="Calibri"/>
              <a:buNone/>
            </a:pPr>
            <a:r>
              <a:rPr b="1" i="0" lang="en-US" sz="1100" u="none" cap="none" strike="noStrike">
                <a:solidFill>
                  <a:srgbClr val="E4572E"/>
                </a:solidFill>
                <a:latin typeface="Calibri"/>
                <a:ea typeface="Calibri"/>
                <a:cs typeface="Calibri"/>
                <a:sym typeface="Calibri"/>
              </a:rPr>
              <a:t>THE VAGUE-INPUT RULE</a:t>
            </a:r>
            <a:endParaRPr b="0" i="0" sz="1100" u="none" cap="none" strike="noStrike">
              <a:solidFill>
                <a:schemeClr val="dk1"/>
              </a:solidFill>
              <a:latin typeface="Calibri"/>
              <a:ea typeface="Calibri"/>
              <a:cs typeface="Calibri"/>
              <a:sym typeface="Calibri"/>
            </a:endParaRPr>
          </a:p>
        </p:txBody>
      </p:sp>
      <p:sp>
        <p:nvSpPr>
          <p:cNvPr id="145" name="Google Shape;145;p6"/>
          <p:cNvSpPr txBox="1"/>
          <p:nvPr/>
        </p:nvSpPr>
        <p:spPr>
          <a:xfrm>
            <a:off x="822960" y="5257800"/>
            <a:ext cx="65836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0" i="1" lang="en-US" sz="1400" u="none" cap="none" strike="noStrike">
                <a:solidFill>
                  <a:srgbClr val="1E2761"/>
                </a:solidFill>
                <a:latin typeface="Calibri"/>
                <a:ea typeface="Calibri"/>
                <a:cs typeface="Calibri"/>
                <a:sym typeface="Calibri"/>
              </a:rPr>
              <a:t>"If the input is too vague to determine X, say UNKNOWN. Do NOT invent X."</a:t>
            </a:r>
            <a:endParaRPr b="0" i="0" sz="1400" u="none" cap="none" strike="noStrike">
              <a:solidFill>
                <a:schemeClr val="dk1"/>
              </a:solidFill>
              <a:latin typeface="Calibri"/>
              <a:ea typeface="Calibri"/>
              <a:cs typeface="Calibri"/>
              <a:sym typeface="Calibri"/>
            </a:endParaRPr>
          </a:p>
        </p:txBody>
      </p:sp>
      <p:sp>
        <p:nvSpPr>
          <p:cNvPr id="146" name="Google Shape;146;p6"/>
          <p:cNvSpPr/>
          <p:nvPr/>
        </p:nvSpPr>
        <p:spPr>
          <a:xfrm>
            <a:off x="8001000" y="1691640"/>
            <a:ext cx="3639312" cy="4572000"/>
          </a:xfrm>
          <a:prstGeom prst="roundRect">
            <a:avLst>
              <a:gd fmla="val 2513"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6"/>
          <p:cNvSpPr txBox="1"/>
          <p:nvPr/>
        </p:nvSpPr>
        <p:spPr>
          <a:xfrm>
            <a:off x="8275320" y="1920240"/>
            <a:ext cx="3108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100"/>
              <a:buFont typeface="Calibri"/>
              <a:buNone/>
            </a:pPr>
            <a:r>
              <a:rPr b="1" i="0" lang="en-US" sz="1100" u="none" cap="none" strike="noStrike">
                <a:solidFill>
                  <a:srgbClr val="CADCFC"/>
                </a:solidFill>
                <a:latin typeface="Calibri"/>
                <a:ea typeface="Calibri"/>
                <a:cs typeface="Calibri"/>
                <a:sym typeface="Calibri"/>
              </a:rPr>
              <a:t>WHY IT MATTERS</a:t>
            </a:r>
            <a:endParaRPr b="0" i="0" sz="1100" u="none" cap="none" strike="noStrike">
              <a:solidFill>
                <a:schemeClr val="dk1"/>
              </a:solidFill>
              <a:latin typeface="Calibri"/>
              <a:ea typeface="Calibri"/>
              <a:cs typeface="Calibri"/>
              <a:sym typeface="Calibri"/>
            </a:endParaRPr>
          </a:p>
        </p:txBody>
      </p:sp>
      <p:sp>
        <p:nvSpPr>
          <p:cNvPr id="148" name="Google Shape;148;p6"/>
          <p:cNvSpPr txBox="1"/>
          <p:nvPr/>
        </p:nvSpPr>
        <p:spPr>
          <a:xfrm>
            <a:off x="8275320" y="2240280"/>
            <a:ext cx="3108960" cy="2011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Most hallucination happens because an agent was never told what to do with insufficient information. This single rule, applied consistently across all four agents, is what T2, T5, and T9 in the baseline dataset actually test.</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E"/>
        </a:solidFill>
      </p:bgPr>
    </p:bg>
    <p:spTree>
      <p:nvGrpSpPr>
        <p:cNvPr id="153" name="Shape 153"/>
        <p:cNvGrpSpPr/>
        <p:nvPr/>
      </p:nvGrpSpPr>
      <p:grpSpPr>
        <a:xfrm>
          <a:off x="0" y="0"/>
          <a:ext cx="0" cy="0"/>
          <a:chOff x="0" y="0"/>
          <a:chExt cx="0" cy="0"/>
        </a:xfrm>
      </p:grpSpPr>
      <p:sp>
        <p:nvSpPr>
          <p:cNvPr id="154" name="Google Shape;154;p7"/>
          <p:cNvSpPr/>
          <p:nvPr/>
        </p:nvSpPr>
        <p:spPr>
          <a:xfrm>
            <a:off x="548640" y="457200"/>
            <a:ext cx="384048" cy="384048"/>
          </a:xfrm>
          <a:prstGeom prst="ellipse">
            <a:avLst/>
          </a:prstGeom>
          <a:solidFill>
            <a:srgbClr val="E457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7"/>
          <p:cNvSpPr txBox="1"/>
          <p:nvPr/>
        </p:nvSpPr>
        <p:spPr>
          <a:xfrm>
            <a:off x="548640" y="45720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4</a:t>
            </a:r>
            <a:endParaRPr b="0" i="0" sz="1600" u="none" cap="none" strike="noStrike">
              <a:solidFill>
                <a:schemeClr val="dk1"/>
              </a:solidFill>
              <a:latin typeface="Calibri"/>
              <a:ea typeface="Calibri"/>
              <a:cs typeface="Calibri"/>
              <a:sym typeface="Calibri"/>
            </a:endParaRPr>
          </a:p>
        </p:txBody>
      </p:sp>
      <p:sp>
        <p:nvSpPr>
          <p:cNvPr id="156" name="Google Shape;156;p7"/>
          <p:cNvSpPr txBox="1"/>
          <p:nvPr/>
        </p:nvSpPr>
        <p:spPr>
          <a:xfrm>
            <a:off x="1042416" y="457200"/>
            <a:ext cx="54864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7"/>
              </a:buClr>
              <a:buSzPts val="1200"/>
              <a:buFont typeface="Calibri"/>
              <a:buNone/>
            </a:pPr>
            <a:r>
              <a:rPr b="1" i="0" lang="en-US" sz="1200" u="none" cap="none" strike="noStrike">
                <a:solidFill>
                  <a:srgbClr val="5A6B87"/>
                </a:solidFill>
                <a:latin typeface="Calibri"/>
                <a:ea typeface="Calibri"/>
                <a:cs typeface="Calibri"/>
                <a:sym typeface="Calibri"/>
              </a:rPr>
              <a:t>BUILD &amp; EVALUATE</a:t>
            </a:r>
            <a:endParaRPr b="0" i="0" sz="1200" u="none" cap="none" strike="noStrike">
              <a:solidFill>
                <a:schemeClr val="dk1"/>
              </a:solidFill>
              <a:latin typeface="Calibri"/>
              <a:ea typeface="Calibri"/>
              <a:cs typeface="Calibri"/>
              <a:sym typeface="Calibri"/>
            </a:endParaRPr>
          </a:p>
        </p:txBody>
      </p:sp>
      <p:sp>
        <p:nvSpPr>
          <p:cNvPr id="157" name="Google Shape;157;p7"/>
          <p:cNvSpPr txBox="1"/>
          <p:nvPr/>
        </p:nvSpPr>
        <p:spPr>
          <a:xfrm>
            <a:off x="548640" y="914400"/>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800"/>
              <a:buFont typeface="Cambria"/>
              <a:buNone/>
            </a:pPr>
            <a:r>
              <a:rPr b="1" i="0" lang="en-US" sz="2800" u="none" cap="none" strike="noStrike">
                <a:solidFill>
                  <a:srgbClr val="1E2761"/>
                </a:solidFill>
                <a:latin typeface="Cambria"/>
                <a:ea typeface="Cambria"/>
                <a:cs typeface="Cambria"/>
                <a:sym typeface="Cambria"/>
              </a:rPr>
              <a:t>Baseline Dataset: T1–T12 Complete, Gap Analyzer Live</a:t>
            </a:r>
            <a:endParaRPr b="0" i="0" sz="2800" u="none" cap="none" strike="noStrike">
              <a:solidFill>
                <a:schemeClr val="dk1"/>
              </a:solidFill>
              <a:latin typeface="Calibri"/>
              <a:ea typeface="Calibri"/>
              <a:cs typeface="Calibri"/>
              <a:sym typeface="Calibri"/>
            </a:endParaRPr>
          </a:p>
        </p:txBody>
      </p:sp>
      <p:sp>
        <p:nvSpPr>
          <p:cNvPr id="158" name="Google Shape;158;p7"/>
          <p:cNvSpPr/>
          <p:nvPr/>
        </p:nvSpPr>
        <p:spPr>
          <a:xfrm>
            <a:off x="548650" y="1691650"/>
            <a:ext cx="2898600" cy="1792500"/>
          </a:xfrm>
          <a:prstGeom prst="roundRect">
            <a:avLst>
              <a:gd fmla="val 6316" name="adj"/>
            </a:avLst>
          </a:prstGeom>
          <a:solidFill>
            <a:srgbClr val="FFFFFF"/>
          </a:solidFill>
          <a:ln>
            <a:noFill/>
          </a:ln>
          <a:effectLst>
            <a:outerShdw blurRad="78622" rotWithShape="0" algn="bl" dir="5400000" dist="26207">
              <a:srgbClr val="44546A">
                <a:alpha val="20000"/>
              </a:srgbClr>
            </a:outerShdw>
          </a:effectLst>
        </p:spPr>
        <p:txBody>
          <a:bodyPr anchorCtr="0" anchor="ctr" bIns="94325" lIns="94325" spcFirstLastPara="1" rIns="94325" wrap="square" tIns="94325">
            <a:noAutofit/>
          </a:bodyPr>
          <a:lstStyle/>
          <a:p>
            <a:pPr indent="0" lvl="0" marL="0" rtl="0" algn="l">
              <a:spcBef>
                <a:spcPts val="0"/>
              </a:spcBef>
              <a:spcAft>
                <a:spcPts val="0"/>
              </a:spcAft>
              <a:buNone/>
            </a:pPr>
            <a:r>
              <a:t/>
            </a:r>
            <a:endParaRPr/>
          </a:p>
        </p:txBody>
      </p:sp>
      <p:sp>
        <p:nvSpPr>
          <p:cNvPr id="159" name="Google Shape;159;p7"/>
          <p:cNvSpPr txBox="1"/>
          <p:nvPr/>
        </p:nvSpPr>
        <p:spPr>
          <a:xfrm>
            <a:off x="548650" y="1833169"/>
            <a:ext cx="2898600" cy="990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4540"/>
              <a:buFont typeface="Cambria"/>
              <a:buNone/>
            </a:pPr>
            <a:r>
              <a:rPr b="1" i="0" lang="en-US" sz="4540" u="none" cap="none" strike="noStrike">
                <a:solidFill>
                  <a:srgbClr val="1E2761"/>
                </a:solidFill>
                <a:latin typeface="Cambria"/>
                <a:ea typeface="Cambria"/>
                <a:cs typeface="Cambria"/>
                <a:sym typeface="Cambria"/>
              </a:rPr>
              <a:t>12 / 12</a:t>
            </a:r>
            <a:endParaRPr b="0" i="0" sz="4540" u="none" cap="none" strike="noStrike">
              <a:solidFill>
                <a:schemeClr val="dk1"/>
              </a:solidFill>
              <a:latin typeface="Calibri"/>
              <a:ea typeface="Calibri"/>
              <a:cs typeface="Calibri"/>
              <a:sym typeface="Calibri"/>
            </a:endParaRPr>
          </a:p>
        </p:txBody>
      </p:sp>
      <p:sp>
        <p:nvSpPr>
          <p:cNvPr id="160" name="Google Shape;160;p7"/>
          <p:cNvSpPr txBox="1"/>
          <p:nvPr/>
        </p:nvSpPr>
        <p:spPr>
          <a:xfrm>
            <a:off x="731524" y="2788925"/>
            <a:ext cx="2550300" cy="54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87"/>
              </a:buClr>
              <a:buSzPts val="1200"/>
              <a:buFont typeface="Calibri"/>
              <a:buNone/>
            </a:pPr>
            <a:r>
              <a:rPr b="0" i="0" lang="en-US" sz="1200" u="none" cap="none" strike="noStrike">
                <a:solidFill>
                  <a:srgbClr val="5A6B87"/>
                </a:solidFill>
                <a:latin typeface="Calibri"/>
                <a:ea typeface="Calibri"/>
                <a:cs typeface="Calibri"/>
                <a:sym typeface="Calibri"/>
              </a:rPr>
              <a:t>Baseline inputs run end-to-end (T1–T10 core + T11–T12 chained)</a:t>
            </a:r>
            <a:endParaRPr b="0" i="0" sz="1200" u="none" cap="none" strike="noStrike">
              <a:solidFill>
                <a:schemeClr val="dk1"/>
              </a:solidFill>
              <a:latin typeface="Calibri"/>
              <a:ea typeface="Calibri"/>
              <a:cs typeface="Calibri"/>
              <a:sym typeface="Calibri"/>
            </a:endParaRPr>
          </a:p>
        </p:txBody>
      </p:sp>
      <p:sp>
        <p:nvSpPr>
          <p:cNvPr id="161" name="Google Shape;161;p7"/>
          <p:cNvSpPr/>
          <p:nvPr/>
        </p:nvSpPr>
        <p:spPr>
          <a:xfrm>
            <a:off x="3874550" y="1691650"/>
            <a:ext cx="2738700" cy="1737300"/>
          </a:xfrm>
          <a:prstGeom prst="roundRect">
            <a:avLst>
              <a:gd fmla="val 6316" name="adj"/>
            </a:avLst>
          </a:prstGeom>
          <a:solidFill>
            <a:srgbClr val="FFFFFF"/>
          </a:solidFill>
          <a:ln>
            <a:noFill/>
          </a:ln>
          <a:effectLst>
            <a:outerShdw blurRad="76200" rotWithShape="0" algn="bl" dir="5400000" dist="25400">
              <a:srgbClr val="44546A">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7"/>
          <p:cNvSpPr txBox="1"/>
          <p:nvPr/>
        </p:nvSpPr>
        <p:spPr>
          <a:xfrm>
            <a:off x="3874550" y="1828809"/>
            <a:ext cx="2738700" cy="96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4400"/>
              <a:buFont typeface="Cambria"/>
              <a:buNone/>
            </a:pPr>
            <a:r>
              <a:rPr b="1" i="0" lang="en-US" sz="4400" u="none" cap="none" strike="noStrike">
                <a:solidFill>
                  <a:srgbClr val="1E2761"/>
                </a:solidFill>
                <a:latin typeface="Cambria"/>
                <a:ea typeface="Cambria"/>
                <a:cs typeface="Cambria"/>
                <a:sym typeface="Cambria"/>
              </a:rPr>
              <a:t>4 / 4</a:t>
            </a:r>
            <a:endParaRPr b="0" i="0" sz="4400" u="none" cap="none" strike="noStrike">
              <a:solidFill>
                <a:schemeClr val="dk1"/>
              </a:solidFill>
              <a:latin typeface="Calibri"/>
              <a:ea typeface="Calibri"/>
              <a:cs typeface="Calibri"/>
              <a:sym typeface="Calibri"/>
            </a:endParaRPr>
          </a:p>
        </p:txBody>
      </p:sp>
      <p:sp>
        <p:nvSpPr>
          <p:cNvPr id="163" name="Google Shape;163;p7"/>
          <p:cNvSpPr txBox="1"/>
          <p:nvPr/>
        </p:nvSpPr>
        <p:spPr>
          <a:xfrm>
            <a:off x="4289452" y="2788925"/>
            <a:ext cx="1908900" cy="54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87"/>
              </a:buClr>
              <a:buSzPts val="1200"/>
              <a:buFont typeface="Calibri"/>
              <a:buNone/>
            </a:pPr>
            <a:r>
              <a:rPr b="0" i="0" lang="en-US" sz="1200" u="none" cap="none" strike="noStrike">
                <a:solidFill>
                  <a:srgbClr val="5A6B87"/>
                </a:solidFill>
                <a:latin typeface="Calibri"/>
                <a:ea typeface="Calibri"/>
                <a:cs typeface="Calibri"/>
                <a:sym typeface="Calibri"/>
              </a:rPr>
              <a:t>Agents live — Extractor, PRD Generator, Story Breakdown, Gap Analyzer</a:t>
            </a:r>
            <a:endParaRPr b="0" i="0" sz="1200" u="none" cap="none" strike="noStrike">
              <a:solidFill>
                <a:schemeClr val="dk1"/>
              </a:solidFill>
              <a:latin typeface="Calibri"/>
              <a:ea typeface="Calibri"/>
              <a:cs typeface="Calibri"/>
              <a:sym typeface="Calibri"/>
            </a:endParaRPr>
          </a:p>
        </p:txBody>
      </p:sp>
      <p:sp>
        <p:nvSpPr>
          <p:cNvPr id="164" name="Google Shape;164;p7"/>
          <p:cNvSpPr/>
          <p:nvPr/>
        </p:nvSpPr>
        <p:spPr>
          <a:xfrm>
            <a:off x="7205980" y="1691650"/>
            <a:ext cx="1645800" cy="1737300"/>
          </a:xfrm>
          <a:prstGeom prst="roundRect">
            <a:avLst>
              <a:gd fmla="val 6316" name="adj"/>
            </a:avLst>
          </a:prstGeom>
          <a:solidFill>
            <a:srgbClr val="FFFFFF"/>
          </a:solidFill>
          <a:ln>
            <a:noFill/>
          </a:ln>
          <a:effectLst>
            <a:outerShdw blurRad="76200" rotWithShape="0" algn="bl" dir="5400000" dist="25400">
              <a:srgbClr val="44546A">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7"/>
          <p:cNvSpPr txBox="1"/>
          <p:nvPr/>
        </p:nvSpPr>
        <p:spPr>
          <a:xfrm>
            <a:off x="7205980" y="1828800"/>
            <a:ext cx="1645800" cy="96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4572E"/>
              </a:buClr>
              <a:buSzPts val="4400"/>
              <a:buFont typeface="Cambria"/>
              <a:buNone/>
            </a:pPr>
            <a:r>
              <a:rPr b="1" lang="en-US" sz="4400">
                <a:solidFill>
                  <a:srgbClr val="E4572E"/>
                </a:solidFill>
                <a:latin typeface="Cambria"/>
                <a:ea typeface="Cambria"/>
                <a:cs typeface="Cambria"/>
                <a:sym typeface="Cambria"/>
              </a:rPr>
              <a:t>20</a:t>
            </a:r>
            <a:r>
              <a:rPr b="1" i="0" lang="en-US" sz="4400" u="none" cap="none" strike="noStrike">
                <a:solidFill>
                  <a:srgbClr val="E4572E"/>
                </a:solidFill>
                <a:latin typeface="Cambria"/>
                <a:ea typeface="Cambria"/>
                <a:cs typeface="Cambria"/>
                <a:sym typeface="Cambria"/>
              </a:rPr>
              <a:t>%</a:t>
            </a:r>
            <a:endParaRPr b="0" i="0" sz="4400" u="none" cap="none" strike="noStrike">
              <a:solidFill>
                <a:schemeClr val="dk1"/>
              </a:solidFill>
              <a:latin typeface="Calibri"/>
              <a:ea typeface="Calibri"/>
              <a:cs typeface="Calibri"/>
              <a:sym typeface="Calibri"/>
            </a:endParaRPr>
          </a:p>
        </p:txBody>
      </p:sp>
      <p:sp>
        <p:nvSpPr>
          <p:cNvPr id="166" name="Google Shape;166;p7"/>
          <p:cNvSpPr txBox="1"/>
          <p:nvPr/>
        </p:nvSpPr>
        <p:spPr>
          <a:xfrm>
            <a:off x="7326270" y="2834674"/>
            <a:ext cx="1405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87"/>
              </a:buClr>
              <a:buSzPts val="1200"/>
              <a:buFont typeface="Calibri"/>
              <a:buNone/>
            </a:pPr>
            <a:r>
              <a:rPr lang="en-US" sz="1200">
                <a:solidFill>
                  <a:srgbClr val="5A6B87"/>
                </a:solidFill>
                <a:latin typeface="Calibri"/>
                <a:ea typeface="Calibri"/>
                <a:cs typeface="Calibri"/>
                <a:sym typeface="Calibri"/>
              </a:rPr>
              <a:t>Hallucination Scores</a:t>
            </a:r>
            <a:endParaRPr b="0" i="0" sz="1200" u="none" cap="none" strike="noStrike">
              <a:solidFill>
                <a:schemeClr val="dk1"/>
              </a:solidFill>
              <a:latin typeface="Calibri"/>
              <a:ea typeface="Calibri"/>
              <a:cs typeface="Calibri"/>
              <a:sym typeface="Calibri"/>
            </a:endParaRPr>
          </a:p>
        </p:txBody>
      </p:sp>
      <p:sp>
        <p:nvSpPr>
          <p:cNvPr id="167" name="Google Shape;167;p7"/>
          <p:cNvSpPr txBox="1"/>
          <p:nvPr/>
        </p:nvSpPr>
        <p:spPr>
          <a:xfrm>
            <a:off x="563840" y="4034295"/>
            <a:ext cx="110643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7"/>
              </a:buClr>
              <a:buSzPts val="1200"/>
              <a:buFont typeface="Calibri"/>
              <a:buNone/>
            </a:pPr>
            <a:r>
              <a:rPr b="0" i="1" lang="en-US" u="none" cap="none" strike="noStrike">
                <a:solidFill>
                  <a:srgbClr val="5A6B87"/>
                </a:solidFill>
                <a:latin typeface="Calibri"/>
                <a:ea typeface="Calibri"/>
                <a:cs typeface="Calibri"/>
                <a:sym typeface="Calibri"/>
              </a:rPr>
              <a:t>Fill in the hallucination-free rate, and per-category pass/fail, from your published Langfuse benchmark run.</a:t>
            </a:r>
            <a:endParaRPr b="0" i="0" u="none" cap="none" strike="noStrike">
              <a:solidFill>
                <a:schemeClr val="dk1"/>
              </a:solidFill>
              <a:latin typeface="Calibri"/>
              <a:ea typeface="Calibri"/>
              <a:cs typeface="Calibri"/>
              <a:sym typeface="Calibri"/>
            </a:endParaRPr>
          </a:p>
        </p:txBody>
      </p:sp>
      <p:sp>
        <p:nvSpPr>
          <p:cNvPr id="168" name="Google Shape;168;p7"/>
          <p:cNvSpPr/>
          <p:nvPr/>
        </p:nvSpPr>
        <p:spPr>
          <a:xfrm>
            <a:off x="563840" y="4582935"/>
            <a:ext cx="1737300" cy="457200"/>
          </a:xfrm>
          <a:prstGeom prst="roundRect">
            <a:avLst>
              <a:gd fmla="val 50000" name="adj"/>
            </a:avLst>
          </a:prstGeom>
          <a:solidFill>
            <a:srgbClr val="CAD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7"/>
          <p:cNvSpPr txBox="1"/>
          <p:nvPr/>
        </p:nvSpPr>
        <p:spPr>
          <a:xfrm>
            <a:off x="563840" y="4582935"/>
            <a:ext cx="17373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050"/>
              <a:buFont typeface="Calibri"/>
              <a:buNone/>
            </a:pPr>
            <a:r>
              <a:rPr b="0" i="0" lang="en-US" sz="1250" u="none" cap="none" strike="noStrike">
                <a:solidFill>
                  <a:srgbClr val="1E2761"/>
                </a:solidFill>
                <a:latin typeface="Calibri"/>
                <a:ea typeface="Calibri"/>
                <a:cs typeface="Calibri"/>
                <a:sym typeface="Calibri"/>
              </a:rPr>
              <a:t>Detailed</a:t>
            </a:r>
            <a:endParaRPr b="0" i="0" sz="1250" u="none" cap="none" strike="noStrike">
              <a:solidFill>
                <a:schemeClr val="dk1"/>
              </a:solidFill>
              <a:latin typeface="Calibri"/>
              <a:ea typeface="Calibri"/>
              <a:cs typeface="Calibri"/>
              <a:sym typeface="Calibri"/>
            </a:endParaRPr>
          </a:p>
        </p:txBody>
      </p:sp>
      <p:sp>
        <p:nvSpPr>
          <p:cNvPr id="170" name="Google Shape;170;p7"/>
          <p:cNvSpPr/>
          <p:nvPr/>
        </p:nvSpPr>
        <p:spPr>
          <a:xfrm>
            <a:off x="2410928" y="4582935"/>
            <a:ext cx="1737300" cy="457200"/>
          </a:xfrm>
          <a:prstGeom prst="roundRect">
            <a:avLst>
              <a:gd fmla="val 50000" name="adj"/>
            </a:avLst>
          </a:prstGeom>
          <a:solidFill>
            <a:srgbClr val="CAD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7"/>
          <p:cNvSpPr txBox="1"/>
          <p:nvPr/>
        </p:nvSpPr>
        <p:spPr>
          <a:xfrm>
            <a:off x="2410928" y="4582935"/>
            <a:ext cx="17373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2761"/>
              </a:buClr>
              <a:buSzPts val="1050"/>
              <a:buFont typeface="Calibri"/>
              <a:buNone/>
            </a:pPr>
            <a:r>
              <a:rPr lang="en-US" sz="1250">
                <a:solidFill>
                  <a:srgbClr val="1E2761"/>
                </a:solidFill>
                <a:latin typeface="Calibri"/>
                <a:ea typeface="Calibri"/>
                <a:cs typeface="Calibri"/>
                <a:sym typeface="Calibri"/>
              </a:rPr>
              <a:t>Vague</a:t>
            </a:r>
            <a:endParaRPr sz="1250">
              <a:solidFill>
                <a:srgbClr val="1E2761"/>
              </a:solidFill>
              <a:latin typeface="Calibri"/>
              <a:ea typeface="Calibri"/>
              <a:cs typeface="Calibri"/>
              <a:sym typeface="Calibri"/>
            </a:endParaRPr>
          </a:p>
        </p:txBody>
      </p:sp>
      <p:sp>
        <p:nvSpPr>
          <p:cNvPr id="172" name="Google Shape;172;p7"/>
          <p:cNvSpPr/>
          <p:nvPr/>
        </p:nvSpPr>
        <p:spPr>
          <a:xfrm>
            <a:off x="4258016" y="4582935"/>
            <a:ext cx="1737300" cy="457200"/>
          </a:xfrm>
          <a:prstGeom prst="roundRect">
            <a:avLst>
              <a:gd fmla="val 50000" name="adj"/>
            </a:avLst>
          </a:prstGeom>
          <a:solidFill>
            <a:srgbClr val="CAD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7"/>
          <p:cNvSpPr txBox="1"/>
          <p:nvPr/>
        </p:nvSpPr>
        <p:spPr>
          <a:xfrm>
            <a:off x="4258016" y="4582935"/>
            <a:ext cx="17373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2761"/>
              </a:buClr>
              <a:buSzPts val="1050"/>
              <a:buFont typeface="Calibri"/>
              <a:buNone/>
            </a:pPr>
            <a:r>
              <a:rPr lang="en-US" sz="1250">
                <a:solidFill>
                  <a:srgbClr val="1E2761"/>
                </a:solidFill>
                <a:latin typeface="Calibri"/>
                <a:ea typeface="Calibri"/>
                <a:cs typeface="Calibri"/>
                <a:sym typeface="Calibri"/>
              </a:rPr>
              <a:t>Contradictory</a:t>
            </a:r>
            <a:endParaRPr b="0" i="0" sz="1050" u="none" cap="none" strike="noStrike">
              <a:solidFill>
                <a:schemeClr val="dk1"/>
              </a:solidFill>
              <a:latin typeface="Calibri"/>
              <a:ea typeface="Calibri"/>
              <a:cs typeface="Calibri"/>
              <a:sym typeface="Calibri"/>
            </a:endParaRPr>
          </a:p>
        </p:txBody>
      </p:sp>
      <p:sp>
        <p:nvSpPr>
          <p:cNvPr id="174" name="Google Shape;174;p7"/>
          <p:cNvSpPr/>
          <p:nvPr/>
        </p:nvSpPr>
        <p:spPr>
          <a:xfrm>
            <a:off x="6105104" y="4582935"/>
            <a:ext cx="1737300" cy="457200"/>
          </a:xfrm>
          <a:prstGeom prst="roundRect">
            <a:avLst>
              <a:gd fmla="val 50000" name="adj"/>
            </a:avLst>
          </a:prstGeom>
          <a:solidFill>
            <a:srgbClr val="CAD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7"/>
          <p:cNvSpPr txBox="1"/>
          <p:nvPr/>
        </p:nvSpPr>
        <p:spPr>
          <a:xfrm>
            <a:off x="6105104" y="4582935"/>
            <a:ext cx="17373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050"/>
              <a:buFont typeface="Calibri"/>
              <a:buNone/>
            </a:pPr>
            <a:r>
              <a:rPr lang="en-US" sz="1250">
                <a:solidFill>
                  <a:srgbClr val="1E2761"/>
                </a:solidFill>
                <a:latin typeface="Calibri"/>
                <a:ea typeface="Calibri"/>
                <a:cs typeface="Calibri"/>
                <a:sym typeface="Calibri"/>
              </a:rPr>
              <a:t>Incomplete</a:t>
            </a:r>
            <a:endParaRPr b="0" i="0" sz="1050" u="none" cap="none" strike="noStrike">
              <a:solidFill>
                <a:schemeClr val="dk1"/>
              </a:solidFill>
              <a:latin typeface="Calibri"/>
              <a:ea typeface="Calibri"/>
              <a:cs typeface="Calibri"/>
              <a:sym typeface="Calibri"/>
            </a:endParaRPr>
          </a:p>
        </p:txBody>
      </p:sp>
      <p:sp>
        <p:nvSpPr>
          <p:cNvPr id="176" name="Google Shape;176;p7"/>
          <p:cNvSpPr/>
          <p:nvPr/>
        </p:nvSpPr>
        <p:spPr>
          <a:xfrm>
            <a:off x="7952192" y="4582935"/>
            <a:ext cx="1737300" cy="457200"/>
          </a:xfrm>
          <a:prstGeom prst="roundRect">
            <a:avLst>
              <a:gd fmla="val 50000" name="adj"/>
            </a:avLst>
          </a:prstGeom>
          <a:solidFill>
            <a:srgbClr val="CAD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7"/>
          <p:cNvSpPr txBox="1"/>
          <p:nvPr/>
        </p:nvSpPr>
        <p:spPr>
          <a:xfrm>
            <a:off x="7952192" y="4582935"/>
            <a:ext cx="17373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050"/>
              <a:buFont typeface="Calibri"/>
              <a:buNone/>
            </a:pPr>
            <a:r>
              <a:rPr lang="en-US" sz="1250">
                <a:solidFill>
                  <a:srgbClr val="1E2761"/>
                </a:solidFill>
                <a:latin typeface="Calibri"/>
                <a:ea typeface="Calibri"/>
                <a:cs typeface="Calibri"/>
                <a:sym typeface="Calibri"/>
              </a:rPr>
              <a:t>Multi-stakeholder</a:t>
            </a:r>
            <a:endParaRPr sz="1250">
              <a:solidFill>
                <a:srgbClr val="1E2761"/>
              </a:solidFill>
              <a:latin typeface="Calibri"/>
              <a:ea typeface="Calibri"/>
              <a:cs typeface="Calibri"/>
              <a:sym typeface="Calibri"/>
            </a:endParaRPr>
          </a:p>
        </p:txBody>
      </p:sp>
      <p:sp>
        <p:nvSpPr>
          <p:cNvPr id="178" name="Google Shape;178;p7"/>
          <p:cNvSpPr/>
          <p:nvPr/>
        </p:nvSpPr>
        <p:spPr>
          <a:xfrm>
            <a:off x="9799280" y="4582935"/>
            <a:ext cx="1737300" cy="457200"/>
          </a:xfrm>
          <a:prstGeom prst="roundRect">
            <a:avLst>
              <a:gd fmla="val 50000" name="adj"/>
            </a:avLst>
          </a:prstGeom>
          <a:solidFill>
            <a:srgbClr val="CAD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7"/>
          <p:cNvSpPr txBox="1"/>
          <p:nvPr/>
        </p:nvSpPr>
        <p:spPr>
          <a:xfrm>
            <a:off x="9799280" y="4582935"/>
            <a:ext cx="17373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2761"/>
              </a:buClr>
              <a:buSzPts val="1050"/>
              <a:buFont typeface="Calibri"/>
              <a:buNone/>
            </a:pPr>
            <a:r>
              <a:rPr lang="en-US" sz="1250">
                <a:solidFill>
                  <a:srgbClr val="1E2761"/>
                </a:solidFill>
                <a:latin typeface="Calibri"/>
                <a:ea typeface="Calibri"/>
                <a:cs typeface="Calibri"/>
                <a:sym typeface="Calibri"/>
              </a:rPr>
              <a:t>Technical</a:t>
            </a:r>
            <a:endParaRPr sz="1250">
              <a:solidFill>
                <a:srgbClr val="1E2761"/>
              </a:solidFill>
              <a:latin typeface="Calibri"/>
              <a:ea typeface="Calibri"/>
              <a:cs typeface="Calibri"/>
              <a:sym typeface="Calibri"/>
            </a:endParaRPr>
          </a:p>
        </p:txBody>
      </p:sp>
      <p:sp>
        <p:nvSpPr>
          <p:cNvPr id="180" name="Google Shape;180;p7"/>
          <p:cNvSpPr/>
          <p:nvPr/>
        </p:nvSpPr>
        <p:spPr>
          <a:xfrm>
            <a:off x="563840" y="5177295"/>
            <a:ext cx="1737300" cy="457200"/>
          </a:xfrm>
          <a:prstGeom prst="roundRect">
            <a:avLst>
              <a:gd fmla="val 50000" name="adj"/>
            </a:avLst>
          </a:prstGeom>
          <a:solidFill>
            <a:srgbClr val="CAD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7"/>
          <p:cNvSpPr txBox="1"/>
          <p:nvPr/>
        </p:nvSpPr>
        <p:spPr>
          <a:xfrm>
            <a:off x="563840" y="5177295"/>
            <a:ext cx="17373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2761"/>
              </a:buClr>
              <a:buSzPts val="1050"/>
              <a:buFont typeface="Calibri"/>
              <a:buNone/>
            </a:pPr>
            <a:r>
              <a:rPr b="0" i="0" lang="en-US" sz="1050" u="none" cap="none" strike="noStrike">
                <a:solidFill>
                  <a:srgbClr val="1E2761"/>
                </a:solidFill>
                <a:latin typeface="Calibri"/>
                <a:ea typeface="Calibri"/>
                <a:cs typeface="Calibri"/>
                <a:sym typeface="Calibri"/>
              </a:rPr>
              <a:t>Persona-</a:t>
            </a:r>
            <a:r>
              <a:rPr lang="en-US" sz="1250">
                <a:solidFill>
                  <a:srgbClr val="1E2761"/>
                </a:solidFill>
                <a:latin typeface="Calibri"/>
                <a:ea typeface="Calibri"/>
                <a:cs typeface="Calibri"/>
                <a:sym typeface="Calibri"/>
              </a:rPr>
              <a:t>based</a:t>
            </a:r>
            <a:endParaRPr b="0" i="0" sz="1050" u="none" cap="none" strike="noStrike">
              <a:solidFill>
                <a:schemeClr val="dk1"/>
              </a:solidFill>
              <a:latin typeface="Calibri"/>
              <a:ea typeface="Calibri"/>
              <a:cs typeface="Calibri"/>
              <a:sym typeface="Calibri"/>
            </a:endParaRPr>
          </a:p>
        </p:txBody>
      </p:sp>
      <p:sp>
        <p:nvSpPr>
          <p:cNvPr id="182" name="Google Shape;182;p7"/>
          <p:cNvSpPr/>
          <p:nvPr/>
        </p:nvSpPr>
        <p:spPr>
          <a:xfrm>
            <a:off x="2410928" y="5177295"/>
            <a:ext cx="1737300" cy="457200"/>
          </a:xfrm>
          <a:prstGeom prst="roundRect">
            <a:avLst>
              <a:gd fmla="val 50000" name="adj"/>
            </a:avLst>
          </a:prstGeom>
          <a:solidFill>
            <a:srgbClr val="CAD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7"/>
          <p:cNvSpPr txBox="1"/>
          <p:nvPr/>
        </p:nvSpPr>
        <p:spPr>
          <a:xfrm>
            <a:off x="2410928" y="5177295"/>
            <a:ext cx="17373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050"/>
              <a:buFont typeface="Calibri"/>
              <a:buNone/>
            </a:pPr>
            <a:r>
              <a:rPr lang="en-US" sz="1250">
                <a:solidFill>
                  <a:srgbClr val="1E2761"/>
                </a:solidFill>
                <a:latin typeface="Calibri"/>
                <a:ea typeface="Calibri"/>
                <a:cs typeface="Calibri"/>
                <a:sym typeface="Calibri"/>
              </a:rPr>
              <a:t>Edge case</a:t>
            </a:r>
            <a:endParaRPr sz="1250">
              <a:solidFill>
                <a:srgbClr val="1E2761"/>
              </a:solidFill>
              <a:latin typeface="Calibri"/>
              <a:ea typeface="Calibri"/>
              <a:cs typeface="Calibri"/>
              <a:sym typeface="Calibri"/>
            </a:endParaRPr>
          </a:p>
        </p:txBody>
      </p:sp>
      <p:sp>
        <p:nvSpPr>
          <p:cNvPr id="184" name="Google Shape;184;p7"/>
          <p:cNvSpPr/>
          <p:nvPr/>
        </p:nvSpPr>
        <p:spPr>
          <a:xfrm>
            <a:off x="4258016" y="5177295"/>
            <a:ext cx="1737300" cy="457200"/>
          </a:xfrm>
          <a:prstGeom prst="roundRect">
            <a:avLst>
              <a:gd fmla="val 50000" name="adj"/>
            </a:avLst>
          </a:prstGeom>
          <a:solidFill>
            <a:srgbClr val="CAD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7"/>
          <p:cNvSpPr txBox="1"/>
          <p:nvPr/>
        </p:nvSpPr>
        <p:spPr>
          <a:xfrm>
            <a:off x="4258016" y="5177295"/>
            <a:ext cx="17373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2761"/>
              </a:buClr>
              <a:buSzPts val="1050"/>
              <a:buFont typeface="Calibri"/>
              <a:buNone/>
            </a:pPr>
            <a:r>
              <a:rPr lang="en-US" sz="1250">
                <a:solidFill>
                  <a:srgbClr val="1E2761"/>
                </a:solidFill>
                <a:latin typeface="Calibri"/>
                <a:ea typeface="Calibri"/>
                <a:cs typeface="Calibri"/>
                <a:sym typeface="Calibri"/>
              </a:rPr>
              <a:t>Dependency</a:t>
            </a:r>
            <a:endParaRPr b="0" i="0" sz="1050" u="none" cap="none" strike="noStrike">
              <a:solidFill>
                <a:schemeClr val="dk1"/>
              </a:solidFill>
              <a:latin typeface="Calibri"/>
              <a:ea typeface="Calibri"/>
              <a:cs typeface="Calibri"/>
              <a:sym typeface="Calibri"/>
            </a:endParaRPr>
          </a:p>
        </p:txBody>
      </p:sp>
      <p:sp>
        <p:nvSpPr>
          <p:cNvPr id="186" name="Google Shape;186;p7"/>
          <p:cNvSpPr/>
          <p:nvPr/>
        </p:nvSpPr>
        <p:spPr>
          <a:xfrm>
            <a:off x="6105104" y="5177295"/>
            <a:ext cx="1737300" cy="457200"/>
          </a:xfrm>
          <a:prstGeom prst="roundRect">
            <a:avLst>
              <a:gd fmla="val 50000" name="adj"/>
            </a:avLst>
          </a:prstGeom>
          <a:solidFill>
            <a:srgbClr val="CAD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7"/>
          <p:cNvSpPr txBox="1"/>
          <p:nvPr/>
        </p:nvSpPr>
        <p:spPr>
          <a:xfrm>
            <a:off x="6105104" y="5177295"/>
            <a:ext cx="17373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2761"/>
              </a:buClr>
              <a:buSzPts val="1050"/>
              <a:buFont typeface="Calibri"/>
              <a:buNone/>
            </a:pPr>
            <a:r>
              <a:rPr lang="en-US" sz="1250">
                <a:solidFill>
                  <a:srgbClr val="1E2761"/>
                </a:solidFill>
                <a:latin typeface="Calibri"/>
                <a:ea typeface="Calibri"/>
                <a:cs typeface="Calibri"/>
                <a:sym typeface="Calibri"/>
              </a:rPr>
              <a:t>PRD generation</a:t>
            </a:r>
            <a:endParaRPr sz="1250">
              <a:solidFill>
                <a:srgbClr val="1E2761"/>
              </a:solidFill>
              <a:latin typeface="Calibri"/>
              <a:ea typeface="Calibri"/>
              <a:cs typeface="Calibri"/>
              <a:sym typeface="Calibri"/>
            </a:endParaRPr>
          </a:p>
        </p:txBody>
      </p:sp>
      <p:sp>
        <p:nvSpPr>
          <p:cNvPr id="188" name="Google Shape;188;p7"/>
          <p:cNvSpPr/>
          <p:nvPr/>
        </p:nvSpPr>
        <p:spPr>
          <a:xfrm>
            <a:off x="7952192" y="5177295"/>
            <a:ext cx="1737300" cy="457200"/>
          </a:xfrm>
          <a:prstGeom prst="roundRect">
            <a:avLst>
              <a:gd fmla="val 50000" name="adj"/>
            </a:avLst>
          </a:prstGeom>
          <a:solidFill>
            <a:srgbClr val="CAD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7"/>
          <p:cNvSpPr txBox="1"/>
          <p:nvPr/>
        </p:nvSpPr>
        <p:spPr>
          <a:xfrm>
            <a:off x="7952192" y="5177295"/>
            <a:ext cx="17373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2761"/>
              </a:buClr>
              <a:buSzPts val="1050"/>
              <a:buFont typeface="Calibri"/>
              <a:buNone/>
            </a:pPr>
            <a:r>
              <a:rPr lang="en-US" sz="1250">
                <a:solidFill>
                  <a:srgbClr val="1E2761"/>
                </a:solidFill>
                <a:latin typeface="Calibri"/>
                <a:ea typeface="Calibri"/>
                <a:cs typeface="Calibri"/>
                <a:sym typeface="Calibri"/>
              </a:rPr>
              <a:t>Story breakdown</a:t>
            </a:r>
            <a:endParaRPr sz="1250">
              <a:solidFill>
                <a:srgbClr val="1E2761"/>
              </a:solidFill>
              <a:latin typeface="Calibri"/>
              <a:ea typeface="Calibri"/>
              <a:cs typeface="Calibri"/>
              <a:sym typeface="Calibri"/>
            </a:endParaRPr>
          </a:p>
        </p:txBody>
      </p:sp>
      <p:sp>
        <p:nvSpPr>
          <p:cNvPr id="190" name="Google Shape;190;p7"/>
          <p:cNvSpPr/>
          <p:nvPr/>
        </p:nvSpPr>
        <p:spPr>
          <a:xfrm>
            <a:off x="9399230" y="1691650"/>
            <a:ext cx="1645800" cy="1737300"/>
          </a:xfrm>
          <a:prstGeom prst="roundRect">
            <a:avLst>
              <a:gd fmla="val 6316" name="adj"/>
            </a:avLst>
          </a:prstGeom>
          <a:solidFill>
            <a:srgbClr val="FFFFFF"/>
          </a:solidFill>
          <a:ln>
            <a:noFill/>
          </a:ln>
          <a:effectLst>
            <a:outerShdw blurRad="76200" rotWithShape="0" algn="bl" dir="5400000" dist="25400">
              <a:srgbClr val="44546A">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7"/>
          <p:cNvSpPr txBox="1"/>
          <p:nvPr/>
        </p:nvSpPr>
        <p:spPr>
          <a:xfrm>
            <a:off x="9399230" y="1828800"/>
            <a:ext cx="1645800" cy="96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4572E"/>
              </a:buClr>
              <a:buSzPts val="4400"/>
              <a:buFont typeface="Cambria"/>
              <a:buNone/>
            </a:pPr>
            <a:r>
              <a:rPr b="1" lang="en-US" sz="4400">
                <a:solidFill>
                  <a:srgbClr val="E4572E"/>
                </a:solidFill>
                <a:latin typeface="Cambria"/>
                <a:ea typeface="Cambria"/>
                <a:cs typeface="Cambria"/>
                <a:sym typeface="Cambria"/>
              </a:rPr>
              <a:t>19</a:t>
            </a:r>
            <a:r>
              <a:rPr b="1" i="0" lang="en-US" sz="4400" u="none" cap="none" strike="noStrike">
                <a:solidFill>
                  <a:srgbClr val="E4572E"/>
                </a:solidFill>
                <a:latin typeface="Cambria"/>
                <a:ea typeface="Cambria"/>
                <a:cs typeface="Cambria"/>
                <a:sym typeface="Cambria"/>
              </a:rPr>
              <a:t>%</a:t>
            </a:r>
            <a:endParaRPr b="0" i="0" sz="4400" u="none" cap="none" strike="noStrike">
              <a:solidFill>
                <a:schemeClr val="dk1"/>
              </a:solidFill>
              <a:latin typeface="Calibri"/>
              <a:ea typeface="Calibri"/>
              <a:cs typeface="Calibri"/>
              <a:sym typeface="Calibri"/>
            </a:endParaRPr>
          </a:p>
        </p:txBody>
      </p:sp>
      <p:sp>
        <p:nvSpPr>
          <p:cNvPr id="192" name="Google Shape;192;p7"/>
          <p:cNvSpPr txBox="1"/>
          <p:nvPr/>
        </p:nvSpPr>
        <p:spPr>
          <a:xfrm>
            <a:off x="9519520" y="2834674"/>
            <a:ext cx="1405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87"/>
              </a:buClr>
              <a:buSzPts val="1200"/>
              <a:buFont typeface="Calibri"/>
              <a:buNone/>
            </a:pPr>
            <a:r>
              <a:rPr lang="en-US" sz="1300">
                <a:solidFill>
                  <a:srgbClr val="5A6B87"/>
                </a:solidFill>
                <a:latin typeface="Calibri"/>
                <a:ea typeface="Calibri"/>
                <a:cs typeface="Calibri"/>
                <a:sym typeface="Calibri"/>
              </a:rPr>
              <a:t>Completeness</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E"/>
        </a:solidFill>
      </p:bgPr>
    </p:bg>
    <p:spTree>
      <p:nvGrpSpPr>
        <p:cNvPr id="197" name="Shape 197"/>
        <p:cNvGrpSpPr/>
        <p:nvPr/>
      </p:nvGrpSpPr>
      <p:grpSpPr>
        <a:xfrm>
          <a:off x="0" y="0"/>
          <a:ext cx="0" cy="0"/>
          <a:chOff x="0" y="0"/>
          <a:chExt cx="0" cy="0"/>
        </a:xfrm>
      </p:grpSpPr>
      <p:sp>
        <p:nvSpPr>
          <p:cNvPr id="198" name="Google Shape;198;p8"/>
          <p:cNvSpPr/>
          <p:nvPr/>
        </p:nvSpPr>
        <p:spPr>
          <a:xfrm>
            <a:off x="548640" y="457200"/>
            <a:ext cx="384048" cy="384048"/>
          </a:xfrm>
          <a:prstGeom prst="ellipse">
            <a:avLst/>
          </a:prstGeom>
          <a:solidFill>
            <a:srgbClr val="E457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8"/>
          <p:cNvSpPr txBox="1"/>
          <p:nvPr/>
        </p:nvSpPr>
        <p:spPr>
          <a:xfrm>
            <a:off x="548640" y="45720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4</a:t>
            </a:r>
            <a:endParaRPr b="0" i="0" sz="1600" u="none" cap="none" strike="noStrike">
              <a:solidFill>
                <a:schemeClr val="dk1"/>
              </a:solidFill>
              <a:latin typeface="Calibri"/>
              <a:ea typeface="Calibri"/>
              <a:cs typeface="Calibri"/>
              <a:sym typeface="Calibri"/>
            </a:endParaRPr>
          </a:p>
        </p:txBody>
      </p:sp>
      <p:sp>
        <p:nvSpPr>
          <p:cNvPr id="200" name="Google Shape;200;p8"/>
          <p:cNvSpPr txBox="1"/>
          <p:nvPr/>
        </p:nvSpPr>
        <p:spPr>
          <a:xfrm>
            <a:off x="1042416" y="457200"/>
            <a:ext cx="54864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7"/>
              </a:buClr>
              <a:buSzPts val="1200"/>
              <a:buFont typeface="Calibri"/>
              <a:buNone/>
            </a:pPr>
            <a:r>
              <a:rPr b="1" i="0" lang="en-US" sz="1200" u="none" cap="none" strike="noStrike">
                <a:solidFill>
                  <a:srgbClr val="5A6B87"/>
                </a:solidFill>
                <a:latin typeface="Calibri"/>
                <a:ea typeface="Calibri"/>
                <a:cs typeface="Calibri"/>
                <a:sym typeface="Calibri"/>
              </a:rPr>
              <a:t>EVALUATION STRATEGY</a:t>
            </a:r>
            <a:endParaRPr b="0" i="0" sz="1200" u="none" cap="none" strike="noStrike">
              <a:solidFill>
                <a:schemeClr val="dk1"/>
              </a:solidFill>
              <a:latin typeface="Calibri"/>
              <a:ea typeface="Calibri"/>
              <a:cs typeface="Calibri"/>
              <a:sym typeface="Calibri"/>
            </a:endParaRPr>
          </a:p>
        </p:txBody>
      </p:sp>
      <p:sp>
        <p:nvSpPr>
          <p:cNvPr id="201" name="Google Shape;201;p8"/>
          <p:cNvSpPr txBox="1"/>
          <p:nvPr/>
        </p:nvSpPr>
        <p:spPr>
          <a:xfrm>
            <a:off x="548640" y="914400"/>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800"/>
              <a:buFont typeface="Cambria"/>
              <a:buNone/>
            </a:pPr>
            <a:r>
              <a:rPr b="1" i="0" lang="en-US" sz="2800" u="none" cap="none" strike="noStrike">
                <a:solidFill>
                  <a:srgbClr val="1E2761"/>
                </a:solidFill>
                <a:latin typeface="Cambria"/>
                <a:ea typeface="Cambria"/>
                <a:cs typeface="Cambria"/>
                <a:sym typeface="Cambria"/>
              </a:rPr>
              <a:t>Production Metrics &amp; Cost Analysis</a:t>
            </a:r>
            <a:endParaRPr b="0" i="0" sz="2800" u="none" cap="none" strike="noStrike">
              <a:solidFill>
                <a:schemeClr val="dk1"/>
              </a:solidFill>
              <a:latin typeface="Calibri"/>
              <a:ea typeface="Calibri"/>
              <a:cs typeface="Calibri"/>
              <a:sym typeface="Calibri"/>
            </a:endParaRPr>
          </a:p>
        </p:txBody>
      </p:sp>
      <p:sp>
        <p:nvSpPr>
          <p:cNvPr id="202" name="Google Shape;202;p8"/>
          <p:cNvSpPr txBox="1"/>
          <p:nvPr/>
        </p:nvSpPr>
        <p:spPr>
          <a:xfrm>
            <a:off x="548640" y="155448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4572E"/>
              </a:buClr>
              <a:buSzPts val="1100"/>
              <a:buFont typeface="Calibri"/>
              <a:buNone/>
            </a:pPr>
            <a:r>
              <a:rPr b="1" i="0" lang="en-US" sz="1600" u="none" cap="none" strike="noStrike">
                <a:solidFill>
                  <a:srgbClr val="E4572E"/>
                </a:solidFill>
                <a:latin typeface="Calibri"/>
                <a:ea typeface="Calibri"/>
                <a:cs typeface="Calibri"/>
                <a:sym typeface="Calibri"/>
              </a:rPr>
              <a:t>TECHNICAL / AI METRICS</a:t>
            </a:r>
            <a:endParaRPr b="0" i="0" sz="1600" u="none" cap="none" strike="noStrike">
              <a:solidFill>
                <a:schemeClr val="dk1"/>
              </a:solidFill>
              <a:latin typeface="Calibri"/>
              <a:ea typeface="Calibri"/>
              <a:cs typeface="Calibri"/>
              <a:sym typeface="Calibri"/>
            </a:endParaRPr>
          </a:p>
        </p:txBody>
      </p:sp>
      <p:sp>
        <p:nvSpPr>
          <p:cNvPr id="203" name="Google Shape;203;p8"/>
          <p:cNvSpPr txBox="1"/>
          <p:nvPr/>
        </p:nvSpPr>
        <p:spPr>
          <a:xfrm>
            <a:off x="548640" y="1874520"/>
            <a:ext cx="5486400" cy="1645920"/>
          </a:xfrm>
          <a:prstGeom prst="rect">
            <a:avLst/>
          </a:prstGeom>
          <a:noFill/>
          <a:ln>
            <a:noFill/>
          </a:ln>
        </p:spPr>
        <p:txBody>
          <a:bodyPr anchorCtr="0" anchor="ctr" bIns="0" lIns="0" spcFirstLastPara="1" rIns="0" wrap="square" tIns="0">
            <a:noAutofit/>
          </a:bodyPr>
          <a:lstStyle/>
          <a:p>
            <a:pPr indent="-355600" lvl="0" marL="342900" marR="0" rtl="0" algn="l">
              <a:spcBef>
                <a:spcPts val="0"/>
              </a:spcBef>
              <a:spcAft>
                <a:spcPts val="0"/>
              </a:spcAft>
              <a:buClr>
                <a:srgbClr val="1E2761"/>
              </a:buClr>
              <a:buSzPts val="1500"/>
              <a:buFont typeface="Calibri"/>
              <a:buChar char="•"/>
            </a:pPr>
            <a:r>
              <a:rPr b="0" i="0" lang="en-US" sz="1500" u="none" cap="none" strike="noStrike">
                <a:solidFill>
                  <a:srgbClr val="1E2761"/>
                </a:solidFill>
                <a:latin typeface="Calibri"/>
                <a:ea typeface="Calibri"/>
                <a:cs typeface="Calibri"/>
                <a:sym typeface="Calibri"/>
              </a:rPr>
              <a:t>Extraction completeness — % of stated requirements correctly captured</a:t>
            </a:r>
            <a:endParaRPr b="0" i="0" sz="1500" u="none" cap="none" strike="noStrike">
              <a:solidFill>
                <a:schemeClr val="dk1"/>
              </a:solidFill>
              <a:latin typeface="Calibri"/>
              <a:ea typeface="Calibri"/>
              <a:cs typeface="Calibri"/>
              <a:sym typeface="Calibri"/>
            </a:endParaRPr>
          </a:p>
          <a:p>
            <a:pPr indent="-355600" lvl="0" marL="342900" marR="0" rtl="0" algn="l">
              <a:spcBef>
                <a:spcPts val="1000"/>
              </a:spcBef>
              <a:spcAft>
                <a:spcPts val="0"/>
              </a:spcAft>
              <a:buClr>
                <a:srgbClr val="1E2761"/>
              </a:buClr>
              <a:buSzPts val="1500"/>
              <a:buFont typeface="Calibri"/>
              <a:buChar char="•"/>
            </a:pPr>
            <a:r>
              <a:rPr b="0" i="0" lang="en-US" sz="1500" u="none" cap="none" strike="noStrike">
                <a:solidFill>
                  <a:srgbClr val="1E2761"/>
                </a:solidFill>
                <a:latin typeface="Calibri"/>
                <a:ea typeface="Calibri"/>
                <a:cs typeface="Calibri"/>
                <a:sym typeface="Calibri"/>
              </a:rPr>
              <a:t>Hallucination rate — % of PRD items not traceable to source text</a:t>
            </a:r>
            <a:endParaRPr b="0" i="0" sz="1500" u="none" cap="none" strike="noStrike">
              <a:solidFill>
                <a:schemeClr val="dk1"/>
              </a:solidFill>
              <a:latin typeface="Calibri"/>
              <a:ea typeface="Calibri"/>
              <a:cs typeface="Calibri"/>
              <a:sym typeface="Calibri"/>
            </a:endParaRPr>
          </a:p>
          <a:p>
            <a:pPr indent="-355600" lvl="0" marL="342900" marR="0" rtl="0" algn="l">
              <a:spcBef>
                <a:spcPts val="1000"/>
              </a:spcBef>
              <a:spcAft>
                <a:spcPts val="0"/>
              </a:spcAft>
              <a:buClr>
                <a:srgbClr val="1E2761"/>
              </a:buClr>
              <a:buSzPts val="1500"/>
              <a:buFont typeface="Calibri"/>
              <a:buChar char="•"/>
            </a:pPr>
            <a:r>
              <a:rPr b="0" i="0" lang="en-US" sz="1500" u="none" cap="none" strike="noStrike">
                <a:solidFill>
                  <a:srgbClr val="1E2761"/>
                </a:solidFill>
                <a:latin typeface="Calibri"/>
                <a:ea typeface="Calibri"/>
                <a:cs typeface="Calibri"/>
                <a:sym typeface="Calibri"/>
              </a:rPr>
              <a:t>Format compliance — % of PRDs following every template section</a:t>
            </a:r>
            <a:endParaRPr b="0" i="0" sz="1500" u="none" cap="none" strike="noStrike">
              <a:solidFill>
                <a:schemeClr val="dk1"/>
              </a:solidFill>
              <a:latin typeface="Calibri"/>
              <a:ea typeface="Calibri"/>
              <a:cs typeface="Calibri"/>
              <a:sym typeface="Calibri"/>
            </a:endParaRPr>
          </a:p>
        </p:txBody>
      </p:sp>
      <p:sp>
        <p:nvSpPr>
          <p:cNvPr id="204" name="Google Shape;204;p8"/>
          <p:cNvSpPr txBox="1"/>
          <p:nvPr/>
        </p:nvSpPr>
        <p:spPr>
          <a:xfrm>
            <a:off x="548640" y="365760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4572E"/>
              </a:buClr>
              <a:buSzPts val="1100"/>
              <a:buFont typeface="Calibri"/>
              <a:buNone/>
            </a:pPr>
            <a:r>
              <a:rPr b="1" i="0" lang="en-US" sz="1500" u="none" cap="none" strike="noStrike">
                <a:solidFill>
                  <a:srgbClr val="E4572E"/>
                </a:solidFill>
                <a:latin typeface="Calibri"/>
                <a:ea typeface="Calibri"/>
                <a:cs typeface="Calibri"/>
                <a:sym typeface="Calibri"/>
              </a:rPr>
              <a:t>BUSINESS METRIC</a:t>
            </a:r>
            <a:endParaRPr b="0" i="0" sz="1500" u="none" cap="none" strike="noStrike">
              <a:solidFill>
                <a:schemeClr val="dk1"/>
              </a:solidFill>
              <a:latin typeface="Calibri"/>
              <a:ea typeface="Calibri"/>
              <a:cs typeface="Calibri"/>
              <a:sym typeface="Calibri"/>
            </a:endParaRPr>
          </a:p>
        </p:txBody>
      </p:sp>
      <p:sp>
        <p:nvSpPr>
          <p:cNvPr id="205" name="Google Shape;205;p8"/>
          <p:cNvSpPr txBox="1"/>
          <p:nvPr/>
        </p:nvSpPr>
        <p:spPr>
          <a:xfrm>
            <a:off x="548640" y="3977640"/>
            <a:ext cx="54864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0" i="0" lang="en-US" sz="1500" u="none" cap="none" strike="noStrike">
                <a:solidFill>
                  <a:srgbClr val="1E2761"/>
                </a:solidFill>
                <a:latin typeface="Calibri"/>
                <a:ea typeface="Calibri"/>
                <a:cs typeface="Calibri"/>
                <a:sym typeface="Calibri"/>
              </a:rPr>
              <a:t>PM drafting time saved per PRD — manual hand-draft hours vs. review/edit time on PRD Genie's output</a:t>
            </a:r>
            <a:endParaRPr b="0" i="0" sz="1500" u="none" cap="none" strike="noStrike">
              <a:solidFill>
                <a:schemeClr val="dk1"/>
              </a:solidFill>
              <a:latin typeface="Calibri"/>
              <a:ea typeface="Calibri"/>
              <a:cs typeface="Calibri"/>
              <a:sym typeface="Calibri"/>
            </a:endParaRPr>
          </a:p>
        </p:txBody>
      </p:sp>
      <p:sp>
        <p:nvSpPr>
          <p:cNvPr id="206" name="Google Shape;206;p8"/>
          <p:cNvSpPr/>
          <p:nvPr/>
        </p:nvSpPr>
        <p:spPr>
          <a:xfrm>
            <a:off x="6400800" y="1554480"/>
            <a:ext cx="5239512" cy="4480560"/>
          </a:xfrm>
          <a:prstGeom prst="roundRect">
            <a:avLst>
              <a:gd fmla="val 2449"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8"/>
          <p:cNvSpPr txBox="1"/>
          <p:nvPr/>
        </p:nvSpPr>
        <p:spPr>
          <a:xfrm>
            <a:off x="6675120" y="1783080"/>
            <a:ext cx="4663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100"/>
              <a:buFont typeface="Calibri"/>
              <a:buNone/>
            </a:pPr>
            <a:r>
              <a:rPr b="1" i="0" lang="en-US" sz="1500" u="none" cap="none" strike="noStrike">
                <a:solidFill>
                  <a:srgbClr val="CADCFC"/>
                </a:solidFill>
                <a:latin typeface="Calibri"/>
                <a:ea typeface="Calibri"/>
                <a:cs typeface="Calibri"/>
                <a:sym typeface="Calibri"/>
              </a:rPr>
              <a:t>COST PER RUN</a:t>
            </a:r>
            <a:endParaRPr b="0" i="0" sz="1500" u="none" cap="none" strike="noStrike">
              <a:solidFill>
                <a:schemeClr val="dk1"/>
              </a:solidFill>
              <a:latin typeface="Calibri"/>
              <a:ea typeface="Calibri"/>
              <a:cs typeface="Calibri"/>
              <a:sym typeface="Calibri"/>
            </a:endParaRPr>
          </a:p>
        </p:txBody>
      </p:sp>
      <p:sp>
        <p:nvSpPr>
          <p:cNvPr id="208" name="Google Shape;208;p8"/>
          <p:cNvSpPr txBox="1"/>
          <p:nvPr/>
        </p:nvSpPr>
        <p:spPr>
          <a:xfrm>
            <a:off x="6675120" y="2148840"/>
            <a:ext cx="3200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E</a:t>
            </a:r>
            <a:r>
              <a:rPr b="0" i="0" lang="en-US" sz="1550" u="none" cap="none" strike="noStrike">
                <a:solidFill>
                  <a:srgbClr val="FFFFFF"/>
                </a:solidFill>
                <a:latin typeface="Calibri"/>
                <a:ea typeface="Calibri"/>
                <a:cs typeface="Calibri"/>
                <a:sym typeface="Calibri"/>
              </a:rPr>
              <a:t>xtractor + Gap Analyzer tokens</a:t>
            </a:r>
            <a:endParaRPr b="0" i="0" sz="1550" u="none" cap="none" strike="noStrike">
              <a:solidFill>
                <a:schemeClr val="dk1"/>
              </a:solidFill>
              <a:latin typeface="Calibri"/>
              <a:ea typeface="Calibri"/>
              <a:cs typeface="Calibri"/>
              <a:sym typeface="Calibri"/>
            </a:endParaRPr>
          </a:p>
        </p:txBody>
      </p:sp>
      <p:sp>
        <p:nvSpPr>
          <p:cNvPr id="209" name="Google Shape;209;p8"/>
          <p:cNvSpPr txBox="1"/>
          <p:nvPr/>
        </p:nvSpPr>
        <p:spPr>
          <a:xfrm>
            <a:off x="9829800" y="2148840"/>
            <a:ext cx="1600200" cy="502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ADCFC"/>
              </a:buClr>
              <a:buSzPts val="1200"/>
              <a:buFont typeface="Calibri"/>
              <a:buNone/>
            </a:pPr>
            <a:r>
              <a:rPr i="1" lang="en-US">
                <a:solidFill>
                  <a:srgbClr val="CADCFC"/>
                </a:solidFill>
                <a:latin typeface="Calibri"/>
                <a:ea typeface="Calibri"/>
                <a:cs typeface="Calibri"/>
                <a:sym typeface="Calibri"/>
              </a:rPr>
              <a:t>~730 Tokens</a:t>
            </a:r>
            <a:endParaRPr b="0" i="0" u="none" cap="none" strike="noStrike">
              <a:solidFill>
                <a:schemeClr val="dk1"/>
              </a:solidFill>
              <a:latin typeface="Calibri"/>
              <a:ea typeface="Calibri"/>
              <a:cs typeface="Calibri"/>
              <a:sym typeface="Calibri"/>
            </a:endParaRPr>
          </a:p>
        </p:txBody>
      </p:sp>
      <p:sp>
        <p:nvSpPr>
          <p:cNvPr id="210" name="Google Shape;210;p8"/>
          <p:cNvSpPr txBox="1"/>
          <p:nvPr/>
        </p:nvSpPr>
        <p:spPr>
          <a:xfrm>
            <a:off x="6675120" y="2715768"/>
            <a:ext cx="32004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50"/>
              <a:buFont typeface="Calibri"/>
              <a:buNone/>
            </a:pPr>
            <a:r>
              <a:rPr b="0" i="0" lang="en-US" sz="1450" u="none" cap="none" strike="noStrike">
                <a:solidFill>
                  <a:srgbClr val="FFFFFF"/>
                </a:solidFill>
                <a:latin typeface="Calibri"/>
                <a:ea typeface="Calibri"/>
                <a:cs typeface="Calibri"/>
                <a:sym typeface="Calibri"/>
              </a:rPr>
              <a:t>PRD Gen </a:t>
            </a:r>
            <a:r>
              <a:rPr lang="en-US" sz="1750">
                <a:solidFill>
                  <a:srgbClr val="FFFFFF"/>
                </a:solidFill>
                <a:latin typeface="Calibri"/>
                <a:ea typeface="Calibri"/>
                <a:cs typeface="Calibri"/>
                <a:sym typeface="Calibri"/>
              </a:rPr>
              <a:t>+</a:t>
            </a:r>
            <a:r>
              <a:rPr b="0" i="0" lang="en-US" sz="1450" u="none" cap="none" strike="noStrike">
                <a:solidFill>
                  <a:srgbClr val="FFFFFF"/>
                </a:solidFill>
                <a:latin typeface="Calibri"/>
                <a:ea typeface="Calibri"/>
                <a:cs typeface="Calibri"/>
                <a:sym typeface="Calibri"/>
              </a:rPr>
              <a:t> Story Breakdown tokens</a:t>
            </a:r>
            <a:endParaRPr b="0" i="0" sz="1450" u="none" cap="none" strike="noStrike">
              <a:solidFill>
                <a:schemeClr val="dk1"/>
              </a:solidFill>
              <a:latin typeface="Calibri"/>
              <a:ea typeface="Calibri"/>
              <a:cs typeface="Calibri"/>
              <a:sym typeface="Calibri"/>
            </a:endParaRPr>
          </a:p>
        </p:txBody>
      </p:sp>
      <p:sp>
        <p:nvSpPr>
          <p:cNvPr id="211" name="Google Shape;211;p8"/>
          <p:cNvSpPr txBox="1"/>
          <p:nvPr/>
        </p:nvSpPr>
        <p:spPr>
          <a:xfrm>
            <a:off x="9829800" y="2715768"/>
            <a:ext cx="1600200" cy="5029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ADCFC"/>
              </a:buClr>
              <a:buSzPts val="1200"/>
              <a:buFont typeface="Calibri"/>
              <a:buNone/>
            </a:pPr>
            <a:r>
              <a:rPr i="1" lang="en-US" sz="1200">
                <a:solidFill>
                  <a:srgbClr val="CADCFC"/>
                </a:solidFill>
                <a:latin typeface="Calibri"/>
                <a:ea typeface="Calibri"/>
                <a:cs typeface="Calibri"/>
                <a:sym typeface="Calibri"/>
              </a:rPr>
              <a:t>~</a:t>
            </a:r>
            <a:r>
              <a:rPr i="1" lang="en-US">
                <a:solidFill>
                  <a:srgbClr val="CADCFC"/>
                </a:solidFill>
                <a:latin typeface="Calibri"/>
                <a:ea typeface="Calibri"/>
                <a:cs typeface="Calibri"/>
                <a:sym typeface="Calibri"/>
              </a:rPr>
              <a:t>970 Tokens</a:t>
            </a:r>
            <a:endParaRPr b="0" i="0" u="none" cap="none" strike="noStrike">
              <a:solidFill>
                <a:schemeClr val="dk1"/>
              </a:solidFill>
              <a:latin typeface="Calibri"/>
              <a:ea typeface="Calibri"/>
              <a:cs typeface="Calibri"/>
              <a:sym typeface="Calibri"/>
            </a:endParaRPr>
          </a:p>
        </p:txBody>
      </p:sp>
      <p:sp>
        <p:nvSpPr>
          <p:cNvPr id="212" name="Google Shape;212;p8"/>
          <p:cNvSpPr txBox="1"/>
          <p:nvPr/>
        </p:nvSpPr>
        <p:spPr>
          <a:xfrm>
            <a:off x="6675120" y="3282696"/>
            <a:ext cx="32004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50"/>
              <a:buFont typeface="Calibri"/>
              <a:buNone/>
            </a:pPr>
            <a:r>
              <a:rPr b="0" i="0" lang="en-US" sz="1500" u="none" cap="none" strike="noStrike">
                <a:solidFill>
                  <a:srgbClr val="FFFFFF"/>
                </a:solidFill>
                <a:latin typeface="Calibri"/>
                <a:ea typeface="Calibri"/>
                <a:cs typeface="Calibri"/>
                <a:sym typeface="Calibri"/>
              </a:rPr>
              <a:t>Cost per </a:t>
            </a:r>
            <a:r>
              <a:rPr lang="en-US" sz="1500">
                <a:solidFill>
                  <a:srgbClr val="FFFFFF"/>
                </a:solidFill>
                <a:latin typeface="Calibri"/>
                <a:ea typeface="Calibri"/>
                <a:cs typeface="Calibri"/>
                <a:sym typeface="Calibri"/>
              </a:rPr>
              <a:t>pipeline</a:t>
            </a:r>
            <a:r>
              <a:rPr b="0" i="0" lang="en-US" sz="1500" u="none" cap="none" strike="noStrike">
                <a:solidFill>
                  <a:srgbClr val="FFFFFF"/>
                </a:solidFill>
                <a:latin typeface="Calibri"/>
                <a:ea typeface="Calibri"/>
                <a:cs typeface="Calibri"/>
                <a:sym typeface="Calibri"/>
              </a:rPr>
              <a:t> run</a:t>
            </a:r>
            <a:endParaRPr b="0" i="0" sz="1500" u="none" cap="none" strike="noStrike">
              <a:solidFill>
                <a:schemeClr val="dk1"/>
              </a:solidFill>
              <a:latin typeface="Calibri"/>
              <a:ea typeface="Calibri"/>
              <a:cs typeface="Calibri"/>
              <a:sym typeface="Calibri"/>
            </a:endParaRPr>
          </a:p>
        </p:txBody>
      </p:sp>
      <p:sp>
        <p:nvSpPr>
          <p:cNvPr id="213" name="Google Shape;213;p8"/>
          <p:cNvSpPr txBox="1"/>
          <p:nvPr/>
        </p:nvSpPr>
        <p:spPr>
          <a:xfrm>
            <a:off x="9829800" y="3282696"/>
            <a:ext cx="1600200" cy="5029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ADCFC"/>
              </a:buClr>
              <a:buSzPts val="1200"/>
              <a:buFont typeface="Calibri"/>
              <a:buNone/>
            </a:pPr>
            <a:r>
              <a:rPr i="1" lang="en-US" sz="1500">
                <a:solidFill>
                  <a:srgbClr val="CADCFC"/>
                </a:solidFill>
                <a:latin typeface="Calibri"/>
                <a:ea typeface="Calibri"/>
                <a:cs typeface="Calibri"/>
                <a:sym typeface="Calibri"/>
              </a:rPr>
              <a:t>~$0.006</a:t>
            </a:r>
            <a:endParaRPr b="0" i="0" sz="1500" u="none" cap="none" strike="noStrike">
              <a:solidFill>
                <a:schemeClr val="dk1"/>
              </a:solidFill>
              <a:latin typeface="Calibri"/>
              <a:ea typeface="Calibri"/>
              <a:cs typeface="Calibri"/>
              <a:sym typeface="Calibri"/>
            </a:endParaRPr>
          </a:p>
        </p:txBody>
      </p:sp>
      <p:sp>
        <p:nvSpPr>
          <p:cNvPr id="214" name="Google Shape;214;p8"/>
          <p:cNvSpPr txBox="1"/>
          <p:nvPr/>
        </p:nvSpPr>
        <p:spPr>
          <a:xfrm>
            <a:off x="6675120" y="3849624"/>
            <a:ext cx="3200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0" i="0" lang="en-US" sz="1500" u="none" cap="none" strike="noStrike">
                <a:solidFill>
                  <a:srgbClr val="FFFFFF"/>
                </a:solidFill>
                <a:latin typeface="Calibri"/>
                <a:ea typeface="Calibri"/>
                <a:cs typeface="Calibri"/>
                <a:sym typeface="Calibri"/>
              </a:rPr>
              <a:t>Expected </a:t>
            </a:r>
            <a:r>
              <a:rPr lang="en-US" sz="1500">
                <a:solidFill>
                  <a:srgbClr val="FFFFFF"/>
                </a:solidFill>
                <a:latin typeface="Calibri"/>
                <a:ea typeface="Calibri"/>
                <a:cs typeface="Calibri"/>
                <a:sym typeface="Calibri"/>
              </a:rPr>
              <a:t>runs</a:t>
            </a:r>
            <a:r>
              <a:rPr b="0" i="0" lang="en-US" sz="1500" u="none" cap="none" strike="noStrike">
                <a:solidFill>
                  <a:srgbClr val="FFFFFF"/>
                </a:solidFill>
                <a:latin typeface="Calibri"/>
                <a:ea typeface="Calibri"/>
                <a:cs typeface="Calibri"/>
                <a:sym typeface="Calibri"/>
              </a:rPr>
              <a:t> / user / day</a:t>
            </a:r>
            <a:endParaRPr b="0" i="0" sz="1500" u="none" cap="none" strike="noStrike">
              <a:solidFill>
                <a:schemeClr val="dk1"/>
              </a:solidFill>
              <a:latin typeface="Calibri"/>
              <a:ea typeface="Calibri"/>
              <a:cs typeface="Calibri"/>
              <a:sym typeface="Calibri"/>
            </a:endParaRPr>
          </a:p>
        </p:txBody>
      </p:sp>
      <p:sp>
        <p:nvSpPr>
          <p:cNvPr id="215" name="Google Shape;215;p8"/>
          <p:cNvSpPr txBox="1"/>
          <p:nvPr/>
        </p:nvSpPr>
        <p:spPr>
          <a:xfrm>
            <a:off x="9829800" y="3849624"/>
            <a:ext cx="1600200" cy="5029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ADCFC"/>
              </a:buClr>
              <a:buSzPts val="1200"/>
              <a:buFont typeface="Calibri"/>
              <a:buNone/>
            </a:pPr>
            <a:r>
              <a:rPr i="1" lang="en-US">
                <a:solidFill>
                  <a:srgbClr val="CADCFC"/>
                </a:solidFill>
                <a:latin typeface="Calibri"/>
                <a:ea typeface="Calibri"/>
                <a:cs typeface="Calibri"/>
                <a:sym typeface="Calibri"/>
              </a:rPr>
              <a:t>6 full pipelines</a:t>
            </a:r>
            <a:endParaRPr b="0" i="0" u="none" cap="none" strike="noStrike">
              <a:solidFill>
                <a:schemeClr val="dk1"/>
              </a:solidFill>
              <a:latin typeface="Calibri"/>
              <a:ea typeface="Calibri"/>
              <a:cs typeface="Calibri"/>
              <a:sym typeface="Calibri"/>
            </a:endParaRPr>
          </a:p>
        </p:txBody>
      </p:sp>
      <p:sp>
        <p:nvSpPr>
          <p:cNvPr id="216" name="Google Shape;216;p8"/>
          <p:cNvSpPr txBox="1"/>
          <p:nvPr/>
        </p:nvSpPr>
        <p:spPr>
          <a:xfrm>
            <a:off x="6675120" y="4416552"/>
            <a:ext cx="32004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50"/>
              <a:buFont typeface="Calibri"/>
              <a:buNone/>
            </a:pPr>
            <a:r>
              <a:rPr b="0" i="0" lang="en-US" sz="1500" u="none" cap="none" strike="noStrike">
                <a:solidFill>
                  <a:srgbClr val="FFFFFF"/>
                </a:solidFill>
                <a:latin typeface="Calibri"/>
                <a:ea typeface="Calibri"/>
                <a:cs typeface="Calibri"/>
                <a:sym typeface="Calibri"/>
              </a:rPr>
              <a:t>Cost per </a:t>
            </a:r>
            <a:r>
              <a:rPr lang="en-US" sz="1500">
                <a:solidFill>
                  <a:srgbClr val="FFFFFF"/>
                </a:solidFill>
                <a:latin typeface="Calibri"/>
                <a:ea typeface="Calibri"/>
                <a:cs typeface="Calibri"/>
                <a:sym typeface="Calibri"/>
              </a:rPr>
              <a:t>user</a:t>
            </a:r>
            <a:r>
              <a:rPr b="0" i="0" lang="en-US" sz="1500" u="none" cap="none" strike="noStrike">
                <a:solidFill>
                  <a:srgbClr val="FFFFFF"/>
                </a:solidFill>
                <a:latin typeface="Calibri"/>
                <a:ea typeface="Calibri"/>
                <a:cs typeface="Calibri"/>
                <a:sym typeface="Calibri"/>
              </a:rPr>
              <a:t> per day</a:t>
            </a:r>
            <a:endParaRPr b="0" i="0" sz="1500" u="none" cap="none" strike="noStrike">
              <a:solidFill>
                <a:schemeClr val="dk1"/>
              </a:solidFill>
              <a:latin typeface="Calibri"/>
              <a:ea typeface="Calibri"/>
              <a:cs typeface="Calibri"/>
              <a:sym typeface="Calibri"/>
            </a:endParaRPr>
          </a:p>
        </p:txBody>
      </p:sp>
      <p:sp>
        <p:nvSpPr>
          <p:cNvPr id="217" name="Google Shape;217;p8"/>
          <p:cNvSpPr txBox="1"/>
          <p:nvPr/>
        </p:nvSpPr>
        <p:spPr>
          <a:xfrm>
            <a:off x="9829800" y="4416552"/>
            <a:ext cx="1600200" cy="5029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ADCFC"/>
              </a:buClr>
              <a:buSzPts val="1200"/>
              <a:buFont typeface="Calibri"/>
              <a:buNone/>
            </a:pPr>
            <a:r>
              <a:rPr i="1" lang="en-US">
                <a:solidFill>
                  <a:srgbClr val="CADCFC"/>
                </a:solidFill>
                <a:latin typeface="Calibri"/>
                <a:ea typeface="Calibri"/>
                <a:cs typeface="Calibri"/>
                <a:sym typeface="Calibri"/>
              </a:rPr>
              <a:t>$0.12 per day </a:t>
            </a:r>
            <a:endParaRPr b="0" i="0" u="none" cap="none" strike="noStrike">
              <a:solidFill>
                <a:schemeClr val="dk1"/>
              </a:solidFill>
              <a:latin typeface="Calibri"/>
              <a:ea typeface="Calibri"/>
              <a:cs typeface="Calibri"/>
              <a:sym typeface="Calibri"/>
            </a:endParaRPr>
          </a:p>
        </p:txBody>
      </p:sp>
      <p:sp>
        <p:nvSpPr>
          <p:cNvPr id="218" name="Google Shape;218;p8"/>
          <p:cNvSpPr txBox="1"/>
          <p:nvPr/>
        </p:nvSpPr>
        <p:spPr>
          <a:xfrm>
            <a:off x="6675120" y="5120640"/>
            <a:ext cx="466344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100"/>
              <a:buFont typeface="Calibri"/>
              <a:buNone/>
            </a:pPr>
            <a:r>
              <a:rPr b="0" i="1" lang="en-US" sz="1100" u="none" cap="none" strike="noStrike">
                <a:solidFill>
                  <a:srgbClr val="CADCFC"/>
                </a:solidFill>
                <a:latin typeface="Calibri"/>
                <a:ea typeface="Calibri"/>
                <a:cs typeface="Calibri"/>
                <a:sym typeface="Calibri"/>
              </a:rPr>
              <a:t>Actual $ figures depend on real token counts from your Langfuse traces — plug them into this framework.</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223" name="Shape 223"/>
        <p:cNvGrpSpPr/>
        <p:nvPr/>
      </p:nvGrpSpPr>
      <p:grpSpPr>
        <a:xfrm>
          <a:off x="0" y="0"/>
          <a:ext cx="0" cy="0"/>
          <a:chOff x="0" y="0"/>
          <a:chExt cx="0" cy="0"/>
        </a:xfrm>
      </p:grpSpPr>
      <p:sp>
        <p:nvSpPr>
          <p:cNvPr id="224" name="Google Shape;224;p9"/>
          <p:cNvSpPr/>
          <p:nvPr/>
        </p:nvSpPr>
        <p:spPr>
          <a:xfrm>
            <a:off x="-1463040" y="-1463040"/>
            <a:ext cx="4114800" cy="4114800"/>
          </a:xfrm>
          <a:prstGeom prst="ellipse">
            <a:avLst/>
          </a:prstGeom>
          <a:solidFill>
            <a:srgbClr val="2634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9"/>
          <p:cNvSpPr txBox="1"/>
          <p:nvPr/>
        </p:nvSpPr>
        <p:spPr>
          <a:xfrm>
            <a:off x="548640" y="54864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300"/>
              <a:buFont typeface="Calibri"/>
              <a:buNone/>
            </a:pPr>
            <a:r>
              <a:rPr b="1" i="0" lang="en-US" sz="1300" u="none" cap="none" strike="noStrike">
                <a:solidFill>
                  <a:srgbClr val="CADCFC"/>
                </a:solidFill>
                <a:latin typeface="Calibri"/>
                <a:ea typeface="Calibri"/>
                <a:cs typeface="Calibri"/>
                <a:sym typeface="Calibri"/>
              </a:rPr>
              <a:t>REFLECTION &amp; NEXT STEPS</a:t>
            </a:r>
            <a:endParaRPr b="0" i="0" sz="1300" u="none" cap="none" strike="noStrike">
              <a:solidFill>
                <a:schemeClr val="dk1"/>
              </a:solidFill>
              <a:latin typeface="Calibri"/>
              <a:ea typeface="Calibri"/>
              <a:cs typeface="Calibri"/>
              <a:sym typeface="Calibri"/>
            </a:endParaRPr>
          </a:p>
        </p:txBody>
      </p:sp>
      <p:sp>
        <p:nvSpPr>
          <p:cNvPr id="226" name="Google Shape;226;p9"/>
          <p:cNvSpPr txBox="1"/>
          <p:nvPr/>
        </p:nvSpPr>
        <p:spPr>
          <a:xfrm>
            <a:off x="548640" y="960120"/>
            <a:ext cx="100584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mbria"/>
              <a:buNone/>
            </a:pPr>
            <a:r>
              <a:rPr b="1" i="0" lang="en-US" sz="3000" u="none" cap="none" strike="noStrike">
                <a:solidFill>
                  <a:srgbClr val="FFFFFF"/>
                </a:solidFill>
                <a:latin typeface="Cambria"/>
                <a:ea typeface="Cambria"/>
                <a:cs typeface="Cambria"/>
                <a:sym typeface="Cambria"/>
              </a:rPr>
              <a:t>From Capstone to Production Validation</a:t>
            </a:r>
            <a:endParaRPr b="0" i="0" sz="3000" u="none" cap="none" strike="noStrike">
              <a:solidFill>
                <a:schemeClr val="dk1"/>
              </a:solidFill>
              <a:latin typeface="Calibri"/>
              <a:ea typeface="Calibri"/>
              <a:cs typeface="Calibri"/>
              <a:sym typeface="Calibri"/>
            </a:endParaRPr>
          </a:p>
        </p:txBody>
      </p:sp>
      <p:sp>
        <p:nvSpPr>
          <p:cNvPr id="227" name="Google Shape;227;p9"/>
          <p:cNvSpPr txBox="1"/>
          <p:nvPr/>
        </p:nvSpPr>
        <p:spPr>
          <a:xfrm>
            <a:off x="548640" y="1965960"/>
            <a:ext cx="5212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4572E"/>
              </a:buClr>
              <a:buSzPts val="1100"/>
              <a:buFont typeface="Calibri"/>
              <a:buNone/>
            </a:pPr>
            <a:r>
              <a:rPr b="1" i="0" lang="en-US" sz="1500" u="none" cap="none" strike="noStrike">
                <a:solidFill>
                  <a:srgbClr val="E4572E"/>
                </a:solidFill>
                <a:latin typeface="Calibri"/>
                <a:ea typeface="Calibri"/>
                <a:cs typeface="Calibri"/>
                <a:sym typeface="Calibri"/>
              </a:rPr>
              <a:t>WHAT WORKED</a:t>
            </a:r>
            <a:endParaRPr b="0" i="0" sz="1500" u="none" cap="none" strike="noStrike">
              <a:solidFill>
                <a:schemeClr val="dk1"/>
              </a:solidFill>
              <a:latin typeface="Calibri"/>
              <a:ea typeface="Calibri"/>
              <a:cs typeface="Calibri"/>
              <a:sym typeface="Calibri"/>
            </a:endParaRPr>
          </a:p>
        </p:txBody>
      </p:sp>
      <p:sp>
        <p:nvSpPr>
          <p:cNvPr id="228" name="Google Shape;228;p9"/>
          <p:cNvSpPr txBox="1"/>
          <p:nvPr/>
        </p:nvSpPr>
        <p:spPr>
          <a:xfrm>
            <a:off x="548640" y="2286000"/>
            <a:ext cx="52120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0" i="0" lang="en-US" sz="1500" u="none" cap="none" strike="noStrike">
                <a:solidFill>
                  <a:srgbClr val="FFFFFF"/>
                </a:solidFill>
                <a:latin typeface="Calibri"/>
                <a:ea typeface="Calibri"/>
                <a:cs typeface="Calibri"/>
                <a:sym typeface="Calibri"/>
              </a:rPr>
              <a:t>Split-model design + the vague-input guardrail caught ambiguity across all six ambiguity-focused test cases before it reached the PRD.</a:t>
            </a:r>
            <a:endParaRPr b="0" i="0" sz="1500" u="none" cap="none" strike="noStrike">
              <a:solidFill>
                <a:schemeClr val="dk1"/>
              </a:solidFill>
              <a:latin typeface="Calibri"/>
              <a:ea typeface="Calibri"/>
              <a:cs typeface="Calibri"/>
              <a:sym typeface="Calibri"/>
            </a:endParaRPr>
          </a:p>
        </p:txBody>
      </p:sp>
      <p:sp>
        <p:nvSpPr>
          <p:cNvPr id="229" name="Google Shape;229;p9"/>
          <p:cNvSpPr txBox="1"/>
          <p:nvPr/>
        </p:nvSpPr>
        <p:spPr>
          <a:xfrm>
            <a:off x="548640" y="3291840"/>
            <a:ext cx="5212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4572E"/>
              </a:buClr>
              <a:buSzPts val="1100"/>
              <a:buFont typeface="Calibri"/>
              <a:buNone/>
            </a:pPr>
            <a:r>
              <a:rPr b="1" i="0" lang="en-US" sz="1500" u="none" cap="none" strike="noStrike">
                <a:solidFill>
                  <a:srgbClr val="E4572E"/>
                </a:solidFill>
                <a:latin typeface="Calibri"/>
                <a:ea typeface="Calibri"/>
                <a:cs typeface="Calibri"/>
                <a:sym typeface="Calibri"/>
              </a:rPr>
              <a:t>DECISION TRAIL</a:t>
            </a:r>
            <a:endParaRPr b="0" i="0" sz="1500" u="none" cap="none" strike="noStrike">
              <a:solidFill>
                <a:schemeClr val="dk1"/>
              </a:solidFill>
              <a:latin typeface="Calibri"/>
              <a:ea typeface="Calibri"/>
              <a:cs typeface="Calibri"/>
              <a:sym typeface="Calibri"/>
            </a:endParaRPr>
          </a:p>
        </p:txBody>
      </p:sp>
      <p:sp>
        <p:nvSpPr>
          <p:cNvPr id="230" name="Google Shape;230;p9"/>
          <p:cNvSpPr txBox="1"/>
          <p:nvPr/>
        </p:nvSpPr>
        <p:spPr>
          <a:xfrm>
            <a:off x="548640" y="3611880"/>
            <a:ext cx="52120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0" i="0" lang="en-US" sz="1500" u="none" cap="none" strike="noStrike">
                <a:solidFill>
                  <a:srgbClr val="FFFFFF"/>
                </a:solidFill>
                <a:latin typeface="Calibri"/>
                <a:ea typeface="Calibri"/>
                <a:cs typeface="Calibri"/>
                <a:sym typeface="Calibri"/>
              </a:rPr>
              <a:t>4 ADRs documented — orchestration pattern, extended capability, split-model design, Gap Analyzer placement — plus a full RAID log.</a:t>
            </a:r>
            <a:endParaRPr b="0" i="0" sz="1500" u="none" cap="none" strike="noStrike">
              <a:solidFill>
                <a:schemeClr val="dk1"/>
              </a:solidFill>
              <a:latin typeface="Calibri"/>
              <a:ea typeface="Calibri"/>
              <a:cs typeface="Calibri"/>
              <a:sym typeface="Calibri"/>
            </a:endParaRPr>
          </a:p>
        </p:txBody>
      </p:sp>
      <p:sp>
        <p:nvSpPr>
          <p:cNvPr id="231" name="Google Shape;231;p9"/>
          <p:cNvSpPr/>
          <p:nvPr/>
        </p:nvSpPr>
        <p:spPr>
          <a:xfrm>
            <a:off x="6309360" y="1965960"/>
            <a:ext cx="5330952" cy="4206240"/>
          </a:xfrm>
          <a:prstGeom prst="roundRect">
            <a:avLst>
              <a:gd fmla="val 2609" name="adj"/>
            </a:avLst>
          </a:prstGeom>
          <a:solidFill>
            <a:srgbClr val="2634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9"/>
          <p:cNvSpPr txBox="1"/>
          <p:nvPr/>
        </p:nvSpPr>
        <p:spPr>
          <a:xfrm>
            <a:off x="6583680" y="2194560"/>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100"/>
              <a:buFont typeface="Calibri"/>
              <a:buNone/>
            </a:pPr>
            <a:r>
              <a:rPr b="1" i="0" lang="en-US" sz="1500" u="none" cap="none" strike="noStrike">
                <a:solidFill>
                  <a:srgbClr val="CADCFC"/>
                </a:solidFill>
                <a:latin typeface="Calibri"/>
                <a:ea typeface="Calibri"/>
                <a:cs typeface="Calibri"/>
                <a:sym typeface="Calibri"/>
              </a:rPr>
              <a:t>BACKLOG</a:t>
            </a:r>
            <a:endParaRPr b="0" i="0" sz="1500" u="none" cap="none" strike="noStrike">
              <a:solidFill>
                <a:schemeClr val="dk1"/>
              </a:solidFill>
              <a:latin typeface="Calibri"/>
              <a:ea typeface="Calibri"/>
              <a:cs typeface="Calibri"/>
              <a:sym typeface="Calibri"/>
            </a:endParaRPr>
          </a:p>
        </p:txBody>
      </p:sp>
      <p:sp>
        <p:nvSpPr>
          <p:cNvPr id="233" name="Google Shape;233;p9"/>
          <p:cNvSpPr txBox="1"/>
          <p:nvPr/>
        </p:nvSpPr>
        <p:spPr>
          <a:xfrm>
            <a:off x="6583680" y="2514600"/>
            <a:ext cx="4754880" cy="1280160"/>
          </a:xfrm>
          <a:prstGeom prst="rect">
            <a:avLst/>
          </a:prstGeom>
          <a:noFill/>
          <a:ln>
            <a:noFill/>
          </a:ln>
        </p:spPr>
        <p:txBody>
          <a:bodyPr anchorCtr="0" anchor="ctr" bIns="0" lIns="0" spcFirstLastPara="1" rIns="0" wrap="square" tIns="0">
            <a:noAutofit/>
          </a:bodyPr>
          <a:lstStyle/>
          <a:p>
            <a:pPr indent="-355600" lvl="0" marL="342900" marR="0" rtl="0" algn="l">
              <a:spcBef>
                <a:spcPts val="0"/>
              </a:spcBef>
              <a:spcAft>
                <a:spcPts val="0"/>
              </a:spcAft>
              <a:buClr>
                <a:srgbClr val="FFFFFF"/>
              </a:buClr>
              <a:buSzPts val="1500"/>
              <a:buFont typeface="Calibri"/>
              <a:buChar char="•"/>
            </a:pPr>
            <a:r>
              <a:rPr b="0" i="0" lang="en-US" sz="1500" u="none" cap="none" strike="noStrike">
                <a:solidFill>
                  <a:srgbClr val="FFFFFF"/>
                </a:solidFill>
                <a:latin typeface="Calibri"/>
                <a:ea typeface="Calibri"/>
                <a:cs typeface="Calibri"/>
                <a:sym typeface="Calibri"/>
              </a:rPr>
              <a:t>Scope Estimator (T-shirt sizing)</a:t>
            </a:r>
            <a:endParaRPr b="0" i="0" sz="1500" u="none" cap="none" strike="noStrike">
              <a:solidFill>
                <a:schemeClr val="dk1"/>
              </a:solidFill>
              <a:latin typeface="Calibri"/>
              <a:ea typeface="Calibri"/>
              <a:cs typeface="Calibri"/>
              <a:sym typeface="Calibri"/>
            </a:endParaRPr>
          </a:p>
          <a:p>
            <a:pPr indent="-355600" lvl="0" marL="342900" marR="0" rtl="0" algn="l">
              <a:spcBef>
                <a:spcPts val="800"/>
              </a:spcBef>
              <a:spcAft>
                <a:spcPts val="0"/>
              </a:spcAft>
              <a:buClr>
                <a:srgbClr val="FFFFFF"/>
              </a:buClr>
              <a:buSzPts val="1500"/>
              <a:buFont typeface="Calibri"/>
              <a:buChar char="•"/>
            </a:pPr>
            <a:r>
              <a:rPr b="0" i="0" lang="en-US" sz="1500" u="none" cap="none" strike="noStrike">
                <a:solidFill>
                  <a:srgbClr val="FFFFFF"/>
                </a:solidFill>
                <a:latin typeface="Calibri"/>
                <a:ea typeface="Calibri"/>
                <a:cs typeface="Calibri"/>
                <a:sym typeface="Calibri"/>
              </a:rPr>
              <a:t>RAG over past PRDs</a:t>
            </a:r>
            <a:endParaRPr b="0" i="0" sz="1500" u="none" cap="none" strike="noStrike">
              <a:solidFill>
                <a:schemeClr val="dk1"/>
              </a:solidFill>
              <a:latin typeface="Calibri"/>
              <a:ea typeface="Calibri"/>
              <a:cs typeface="Calibri"/>
              <a:sym typeface="Calibri"/>
            </a:endParaRPr>
          </a:p>
          <a:p>
            <a:pPr indent="-355600" lvl="0" marL="342900" marR="0" rtl="0" algn="l">
              <a:spcBef>
                <a:spcPts val="800"/>
              </a:spcBef>
              <a:spcAft>
                <a:spcPts val="0"/>
              </a:spcAft>
              <a:buClr>
                <a:srgbClr val="FFFFFF"/>
              </a:buClr>
              <a:buSzPts val="1500"/>
              <a:buFont typeface="Calibri"/>
              <a:buChar char="•"/>
            </a:pPr>
            <a:r>
              <a:rPr b="0" i="0" lang="en-US" sz="1500" u="none" cap="none" strike="noStrike">
                <a:solidFill>
                  <a:srgbClr val="FFFFFF"/>
                </a:solidFill>
                <a:latin typeface="Calibri"/>
                <a:ea typeface="Calibri"/>
                <a:cs typeface="Calibri"/>
                <a:sym typeface="Calibri"/>
              </a:rPr>
              <a:t>Human-in-the-loop review UI</a:t>
            </a:r>
            <a:endParaRPr b="0" i="0" sz="1500" u="none" cap="none" strike="noStrike">
              <a:solidFill>
                <a:schemeClr val="dk1"/>
              </a:solidFill>
              <a:latin typeface="Calibri"/>
              <a:ea typeface="Calibri"/>
              <a:cs typeface="Calibri"/>
              <a:sym typeface="Calibri"/>
            </a:endParaRPr>
          </a:p>
        </p:txBody>
      </p:sp>
      <p:sp>
        <p:nvSpPr>
          <p:cNvPr id="234" name="Google Shape;234;p9"/>
          <p:cNvSpPr txBox="1"/>
          <p:nvPr/>
        </p:nvSpPr>
        <p:spPr>
          <a:xfrm>
            <a:off x="6583680" y="3977640"/>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100"/>
              <a:buFont typeface="Calibri"/>
              <a:buNone/>
            </a:pPr>
            <a:r>
              <a:rPr b="1" i="0" lang="en-US" sz="1500" u="none" cap="none" strike="noStrike">
                <a:solidFill>
                  <a:srgbClr val="CADCFC"/>
                </a:solidFill>
                <a:latin typeface="Calibri"/>
                <a:ea typeface="Calibri"/>
                <a:cs typeface="Calibri"/>
                <a:sym typeface="Calibri"/>
              </a:rPr>
              <a:t>WHAT'S NEXT</a:t>
            </a:r>
            <a:endParaRPr b="0" i="0" sz="1500" u="none" cap="none" strike="noStrike">
              <a:solidFill>
                <a:schemeClr val="dk1"/>
              </a:solidFill>
              <a:latin typeface="Calibri"/>
              <a:ea typeface="Calibri"/>
              <a:cs typeface="Calibri"/>
              <a:sym typeface="Calibri"/>
            </a:endParaRPr>
          </a:p>
        </p:txBody>
      </p:sp>
      <p:sp>
        <p:nvSpPr>
          <p:cNvPr id="235" name="Google Shape;235;p9"/>
          <p:cNvSpPr txBox="1"/>
          <p:nvPr/>
        </p:nvSpPr>
        <p:spPr>
          <a:xfrm>
            <a:off x="6583680" y="4297680"/>
            <a:ext cx="4754880" cy="1737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lang="en-US" sz="1500">
                <a:solidFill>
                  <a:srgbClr val="FFFFFF"/>
                </a:solidFill>
                <a:latin typeface="Calibri"/>
                <a:ea typeface="Calibri"/>
                <a:cs typeface="Calibri"/>
                <a:sym typeface="Calibri"/>
              </a:rPr>
              <a:t>Human review before the commit. </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2026-09-06T02:09:19Z</dcterms:created>
  <dc:creator>PptxGenJS</dc:creator>
</cp:coreProperties>
</file>